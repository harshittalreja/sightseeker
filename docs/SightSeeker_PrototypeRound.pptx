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64" r:id="rId20"/>
    <p:sldId id="259" r:id="rId9"/>
    <p:sldId id="265" r:id="rId21"/>
    <p:sldId id="262" r:id="rId12"/>
    <p:sldId id="260" r:id="rId10"/>
    <p:sldId id="261" r:id="rId11"/>
    <p:sldId id="263" r:id="rId13"/>
  </p:sldIdLst>
  <p:sldSz cy="10287000" cx="18288000"/>
  <p:notesSz cx="6858000" cy="9144000"/>
  <p:embeddedFontLst>
    <p:embeddedFont>
      <p:font typeface="IBM Plex Sans"/>
      <p:bold r:id="rId14"/>
      <p:boldItalic r:id="rId15"/>
    </p:embeddedFont>
    <p:embeddedFont>
      <p:font typeface="Caveat"/>
      <p:regular r:id="rId16"/>
      <p:bold r:id="rId17"/>
    </p:embeddedFont>
    <p:embeddedFont>
      <p:font typeface="Montserrat"/>
      <p:bold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5.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7.xml"/><Relationship Id="rId13" Type="http://schemas.openxmlformats.org/officeDocument/2006/relationships/slide" Target="slides/slide10.xml"/><Relationship Id="rId14" Type="http://schemas.openxmlformats.org/officeDocument/2006/relationships/font" Target="fonts/IBMPlexSans-bold.fntdata"/><Relationship Id="rId15" Type="http://schemas.openxmlformats.org/officeDocument/2006/relationships/font" Target="fonts/IBMPlexSans-boldItalic.fntdata"/><Relationship Id="rId16" Type="http://schemas.openxmlformats.org/officeDocument/2006/relationships/font" Target="fonts/Caveat-regular.fntdata"/><Relationship Id="rId17" Type="http://schemas.openxmlformats.org/officeDocument/2006/relationships/font" Target="fonts/Caveat-bold.fntdata"/><Relationship Id="rId18" Type="http://schemas.openxmlformats.org/officeDocument/2006/relationships/font" Target="fonts/Montserrat-bold.fntdata"/><Relationship Id="rId19" Type="http://schemas.openxmlformats.org/officeDocument/2006/relationships/font" Target="fonts/Montserrat-boldItalic.fntdata"/><Relationship Id="rId20" Type="http://schemas.openxmlformats.org/officeDocument/2006/relationships/slide" Target="slides/slide4.xml"/><Relationship Id="rId2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1D1D1F"/>
                </a:solidFill>
                <a:latin typeface="Arial"/>
              </a:rPr>
              <a:t>Parts cost: about ₹1,200–1,900 in total (₹, approx.)</a:t>
            </a:r>
          </a:p>
        </c:rich>
      </c:tx>
      <c:layout/>
      <c:overlay val="0"/>
    </c:title>
    <c:autoTitleDeleted val="0"/>
    <c:plotArea>
      <c:barChart>
        <c:barDir val="bar"/>
        <c:grouping val="clustered"/>
        <c:ser>
          <c:idx val="0"/>
          <c:order val="0"/>
          <c:tx>
            <c:strRef>
              <c:f>Sheet1!$B$1</c:f>
              <c:strCache>
                <c:ptCount val="1"/>
                <c:pt idx="0">
                  <c:v>₹</c:v>
                </c:pt>
              </c:strCache>
            </c:strRef>
          </c:tx>
          <c:spPr>
            <a:solidFill>
              <a:srgbClr val="D9622B"/>
            </a:solidFill>
          </c:spPr>
          <c:cat>
            <c:strRef>
              <c:f>Sheet1!$A$2:$A$9</c:f>
              <c:strCache>
                <c:ptCount val="8"/>
                <c:pt idx="0">
                  <c:v>Phone camera</c:v>
                </c:pt>
                <c:pt idx="1">
                  <c:v>HC-SR04</c:v>
                </c:pt>
                <c:pt idx="2">
                  <c:v>Wires, resistors, board</c:v>
                </c:pt>
                <c:pt idx="3">
                  <c:v>L298N driver</c:v>
                </c:pt>
                <c:pt idx="4">
                  <c:v>6× AA pack + cells</c:v>
                </c:pt>
                <c:pt idx="5">
                  <c:v>HC-05 Bluetooth</c:v>
                </c:pt>
                <c:pt idx="6">
                  <c:v>2WD chassis + 2 motors</c:v>
                </c:pt>
                <c:pt idx="7">
                  <c:v>Arduino Uno</c:v>
                </c:pt>
              </c:strCache>
            </c:strRef>
          </c:cat>
          <c:val>
            <c:numRef>
              <c:f>Sheet1!$B$2:$B$9</c:f>
              <c:numCache>
                <c:formatCode>General</c:formatCode>
                <c:ptCount val="8"/>
                <c:pt idx="0">
                  <c:v>0</c:v>
                </c:pt>
                <c:pt idx="1">
                  <c:v>70</c:v>
                </c:pt>
                <c:pt idx="2">
                  <c:v>125</c:v>
                </c:pt>
                <c:pt idx="3">
                  <c:v>150</c:v>
                </c:pt>
                <c:pt idx="4">
                  <c:v>200</c:v>
                </c:pt>
                <c:pt idx="5">
                  <c:v>250</c:v>
                </c:pt>
                <c:pt idx="6">
                  <c:v>375</c:v>
                </c:pt>
                <c:pt idx="7">
                  <c:v>350</c:v>
                </c:pt>
              </c:numCache>
            </c:numRef>
          </c:val>
        </c:ser>
        <c:dLbls>
          <c:numFmt formatCode="&quot;₹&quot;#,##0" sourceLinked="0"/>
          <c:txPr>
            <a:bodyPr/>
            <a:lstStyle/>
            <a:p>
              <a:pPr>
                <a:defRPr sz="1200">
                  <a:solidFill>
                    <a:srgbClr val="1D1D1F"/>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C9CDD3"/>
            </a:solidFill>
          </a:ln>
        </c:spPr>
        <c:txPr>
          <a:bodyPr/>
          <a:lstStyle/>
          <a:p>
            <a:pPr>
              <a:defRPr sz="1200">
                <a:solidFill>
                  <a:srgbClr val="2E4057"/>
                </a:solidFill>
                <a:latin typeface="Arial"/>
              </a:defRPr>
            </a:pPr>
          </a:p>
        </c:txPr>
        <c:crossAx val="-2113994440"/>
        <c:crosses val="autoZero"/>
        <c:auto val="1"/>
        <c:lblAlgn val="ctr"/>
        <c:lblOffset val="100"/>
        <c:noMultiLvlLbl val="0"/>
      </c:catAx>
      <c:valAx>
        <c:axId val="-2113994440"/>
        <c:scaling>
          <c:max val="46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1D1D1F"/>
                </a:solidFill>
                <a:latin typeface="Arial"/>
              </a:rPr>
              <a:t>Global autonomous mobile robot market (US$ billion)</a:t>
            </a:r>
          </a:p>
        </c:rich>
      </c:tx>
      <c:layout/>
      <c:overlay val="0"/>
    </c:title>
    <c:autoTitleDeleted val="0"/>
    <c:plotArea>
      <c:barChart>
        <c:barDir val="col"/>
        <c:grouping val="clustered"/>
        <c:ser>
          <c:idx val="0"/>
          <c:order val="0"/>
          <c:tx>
            <c:strRef>
              <c:f>Sheet1!$B$1</c:f>
              <c:strCache>
                <c:ptCount val="1"/>
                <c:pt idx="0">
                  <c:v>AMR market</c:v>
                </c:pt>
              </c:strCache>
            </c:strRef>
          </c:tx>
          <c:spPr>
            <a:solidFill>
              <a:srgbClr val="D9622B"/>
            </a:solidFill>
          </c:spPr>
          <c:dPt>
            <c:idx val="0"/>
            <c:spPr>
              <a:solidFill>
                <a:srgbClr val="2E4057"/>
              </a:solidFill>
            </c:spPr>
          </c:dPt>
          <c:cat>
            <c:strRef>
              <c:f>Sheet1!$A$2:$A$3</c:f>
              <c:strCache>
                <c:ptCount val="2"/>
                <c:pt idx="0">
                  <c:v>2021</c:v>
                </c:pt>
                <c:pt idx="1">
                  <c:v>2032 (forecast)</c:v>
                </c:pt>
              </c:strCache>
            </c:strRef>
          </c:cat>
          <c:val>
            <c:numRef>
              <c:f>Sheet1!$B$2:$B$3</c:f>
              <c:numCache>
                <c:formatCode>General</c:formatCode>
                <c:ptCount val="2"/>
                <c:pt idx="0">
                  <c:v>2.2</c:v>
                </c:pt>
                <c:pt idx="1">
                  <c:v>18.9</c:v>
                </c:pt>
              </c:numCache>
            </c:numRef>
          </c:val>
        </c:ser>
        <c:dLbls>
          <c:numFmt formatCode="&quot;$&quot;0.0&quot;B&quot;" sourceLinked="0"/>
          <c:txPr>
            <a:bodyPr/>
            <a:lstStyle/>
            <a:p>
              <a:pPr>
                <a:defRPr sz="2000" b="1">
                  <a:solidFill>
                    <a:srgbClr val="1D1D1F"/>
                  </a:solidFill>
                  <a:latin typeface="Aria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9CDD3"/>
            </a:solidFill>
          </a:ln>
        </c:spPr>
        <c:txPr>
          <a:bodyPr/>
          <a:lstStyle/>
          <a:p>
            <a:pPr>
              <a:defRPr sz="1400">
                <a:solidFill>
                  <a:srgbClr val="2E4057"/>
                </a:solidFill>
                <a:latin typeface="Arial"/>
              </a:defRPr>
            </a:pPr>
          </a:p>
        </c:txPr>
        <c:crossAx val="-2113994440"/>
        <c:crosses val="autoZero"/>
        <c:auto val="1"/>
        <c:lblAlgn val="ctr"/>
        <c:lblOffset val="100"/>
        <c:noMultiLvlLbl val="0"/>
      </c:catAx>
      <c:valAx>
        <c:axId val="-2113994440"/>
        <c:scaling>
          <c:max val="22.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I'm Harshit from team Syntax Terror, and I built SightSeeker on my own. It's for Problem Statement 01: you tell the robot what to find, it looks with a camera, decides where to go and drives there. Everything in this deck is a screenshot of something that runs: real YOLO26 on my webcam, the rover firmware in Wokwi, and a 3D twin of the rover.</a:t>
            </a: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problem: most mobile robots drive along a fixed map. If someone moves one box, the route is blocked and the robot just stops. Giving it a new job means an engineer has to reprogram it, and the LiDAR sensors they use are expensive. So small warehouses, college labs and hospitals mostly can't use them. On the right is how SightSeeker covers each direction in Problem Statement 01.</a:t>
            </a: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My solution works in five steps. You ask for something, like 'find the bottle'. YOLO26 looks for it in the phone camera's video. A state machine on the laptop decides how to steer. The laptop sends two wheel speeds to the Arduino as a short text line. The rover stops about half a metre from the target. Compared with a line follower or a map-based robot, there is no setup, you give it a new task in plain English, and the parts cost around 1,500 rupees.</a:t>
            </a: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Three parts. The phone is only a camera; it streams video over Wi-Fi with an app like IP Webcam. The laptop runs my Python program: YOLO26 finds the objects, a state machine decides what to do, and the steering is smoothed into two wheel speeds. Those go to the Arduino over Bluetooth as a text line like L120,R-80, twenty times a second. The safety rules live on the Arduino, so even if the laptop freezes or the Bluetooth drops, the rover stops on its own.</a:t>
            </a:r>
          </a:p>
        </p:txBody>
      </p:sp>
      <p:sp>
        <p:nvSpPr>
          <p:cNvPr id="110" name="Google Shape;1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Allied Market Research puts the autonomous mobile robot market at 2.2 billion dollars in 2021, growing to about 18.9 billion by 2032. Other firms forecast less, so I show the source. The big companies sell to large warehouses. I'd start where cost blocks people: colleges and labs first, then small warehouses and hospitals. Walk mode also opens a second use: guiding visually impaired people by voice. Revenue would come from education kits first, then software licences, custom training and a fleet dashboard.</a:t>
            </a:r>
          </a:p>
        </p:txBody>
      </p:sp>
      <p:sp>
        <p:nvSpPr>
          <p:cNvPr id="119" name="Google Shape;1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Now: the software, firmware and simulations are done. Next is the physical build, about 1,500 rupees of parts, then tuning on a real floor. After that I want it to find any object by name. I already have a prototype with YOLOE, an open-vocabulary model, that works on the webcam. Then a phone app to give it goals. Later: on-board compute like a Jetson so it doesn't need a laptop, ROS 2 and warehouse integrations, and several robots sharing one map.</a:t>
            </a:r>
          </a:p>
        </p:txBody>
      </p:sp>
      <p:sp>
        <p:nvSpPr>
          <p:cNvPr id="128" name="Google Shape;1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Here's where the project stands. The Vision Brain, the rover firmware, the Wokwi simulation, the 3D rover twin, and walk mode with the digital twin are all done and tested. In the 3D twin, the rover follows the same rules as the Arduino: the 500 millisecond watchdog and the 25 centimetre stop. It found the bottle in 30 out of 30 random rooms. The 8.6 seconds is from my real webcam run. The physical rover is next: the parts are listed and the build steps are in the GitHub repo.</a:t>
            </a:r>
          </a:p>
        </p:txBody>
      </p:sp>
      <p:sp>
        <p:nvSpPr>
          <p:cNvPr id="137" name="Google Shape;1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Thank you. I'm happy to show the 3D rover twin, the Wokwi simulation or the webcam demo live.</a:t>
            </a:r>
          </a:p>
        </p:txBody>
      </p:sp>
      <p:sp>
        <p:nvSpPr>
          <p:cNvPr id="146" name="Google Shape;14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a real run on my laptop with my webcam. One: I said 'find bottle' and it matched the word to the bottle class. Two: I'm in the way, so it marks me as an obstacle. Three: it locked onto the bottle. Four: the green line is where it wants to go. Five: the panel shows the wheel commands, left plus 151 and right minus 80, which means turn right. At the bottom is the same run from start to finish: it reached the bottle in 8.6 seconds and stopped about 51 centimetres away. The logic is a simple state machine: searching, navigating, avoiding, goal reached.</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Here's the circuit. The Arduino drives the L298N motor driver: pins 5 and 6 set the speed and pins 7 to 10 set the direction of each wheel. The HC-SR04 on pins 11 and 12 measures the distance ahead, and the HC-05 gives a wireless serial link to the laptop. I couldn't buy parts in time, so I ran the firmware in Wokwi. The OLED and the serial monitor are from my own run: you can see the demo commands and the watchdog stopping the motors when the link is lost. All the parts together cost about 1,200 to 1,900 rupees.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5.png"/><Relationship Id="rId11" Type="http://schemas.openxmlformats.org/officeDocument/2006/relationships/image" Target="../media/image9.png"/><Relationship Id="rId12"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chart" Target="../charts/chart1.xml"/><Relationship Id="rId6" Type="http://schemas.openxmlformats.org/officeDocument/2006/relationships/notesSlide" Target="../notesSlides/notes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chart" Target="../charts/chart2.xml"/><Relationship Id="rId5" Type="http://schemas.openxmlformats.org/officeDocument/2006/relationships/image" Target="../media/image28.png"/><Relationship Id="rId6" Type="http://schemas.openxmlformats.org/officeDocument/2006/relationships/image" Target="../media/image13.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7" name="Google Shape;87;p13" title="download (2).jpg"/>
          <p:cNvPicPr preferRelativeResize="0"/>
          <p:nvPr/>
        </p:nvPicPr>
        <p:blipFill rotWithShape="1">
          <a:blip r:embed="rId3">
            <a:alphaModFix/>
          </a:blip>
          <a:srcRect b="0" l="38928" r="16455" t="0"/>
          <a:stretch/>
        </p:blipFill>
        <p:spPr>
          <a:xfrm rot="-5400000">
            <a:off x="7123100" y="-7111200"/>
            <a:ext cx="4088375" cy="18326624"/>
          </a:xfrm>
          <a:prstGeom prst="rect">
            <a:avLst/>
          </a:prstGeom>
          <a:noFill/>
          <a:ln>
            <a:noFill/>
          </a:ln>
        </p:spPr>
      </p:pic>
      <p:pic>
        <p:nvPicPr>
          <p:cNvPr id="88" name="Google Shape;88;p13"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89" name="Google Shape;89;p13"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
        <p:nvSpPr>
          <p:cNvPr id="90" name="TextBox 89"/>
          <p:cNvSpPr txBox="1"/>
          <p:nvPr/>
        </p:nvSpPr>
        <p:spPr>
          <a:xfrm>
            <a:off x="685800" y="4434840"/>
            <a:ext cx="10515600" cy="1097280"/>
          </a:xfrm>
          <a:prstGeom prst="rect">
            <a:avLst/>
          </a:prstGeom>
          <a:noFill/>
        </p:spPr>
        <p:txBody>
          <a:bodyPr wrap="square" lIns="0" rIns="0" tIns="0" bIns="0" anchor="t">
            <a:spAutoFit/>
          </a:bodyPr>
          <a:lstStyle/>
          <a:p>
            <a:pPr algn="l">
              <a:lnSpc>
                <a:spcPct val="105000"/>
              </a:lnSpc>
              <a:spcAft>
                <a:spcPts val="400"/>
              </a:spcAft>
            </a:pPr>
            <a:r>
              <a:rPr sz="6600" b="1" i="0">
                <a:solidFill>
                  <a:srgbClr val="1D1D1F"/>
                </a:solidFill>
                <a:latin typeface="Arial"/>
              </a:rPr>
              <a:t>Sight</a:t>
            </a:r>
            <a:r>
              <a:rPr sz="6600" b="1" i="0">
                <a:solidFill>
                  <a:srgbClr val="D9622B"/>
                </a:solidFill>
                <a:latin typeface="Arial"/>
              </a:rPr>
              <a:t>Seeker</a:t>
            </a:r>
          </a:p>
        </p:txBody>
      </p:sp>
      <p:sp>
        <p:nvSpPr>
          <p:cNvPr id="91" name="TextBox 90"/>
          <p:cNvSpPr txBox="1"/>
          <p:nvPr/>
        </p:nvSpPr>
        <p:spPr>
          <a:xfrm>
            <a:off x="685800" y="5623560"/>
            <a:ext cx="10515600" cy="548640"/>
          </a:xfrm>
          <a:prstGeom prst="rect">
            <a:avLst/>
          </a:prstGeom>
          <a:noFill/>
        </p:spPr>
        <p:txBody>
          <a:bodyPr wrap="square" lIns="0" rIns="0" tIns="0" bIns="0" anchor="t">
            <a:spAutoFit/>
          </a:bodyPr>
          <a:lstStyle/>
          <a:p>
            <a:pPr algn="l">
              <a:lnSpc>
                <a:spcPct val="105000"/>
              </a:lnSpc>
              <a:spcAft>
                <a:spcPts val="400"/>
              </a:spcAft>
            </a:pPr>
            <a:r>
              <a:rPr sz="2400" b="0" i="0">
                <a:solidFill>
                  <a:srgbClr val="2E4057"/>
                </a:solidFill>
                <a:latin typeface="Arial"/>
              </a:rPr>
              <a:t>Tell it what to find. It sees, decides and drives there.</a:t>
            </a:r>
          </a:p>
        </p:txBody>
      </p:sp>
      <p:sp>
        <p:nvSpPr>
          <p:cNvPr id="92" name="TextBox 91"/>
          <p:cNvSpPr txBox="1"/>
          <p:nvPr/>
        </p:nvSpPr>
        <p:spPr>
          <a:xfrm>
            <a:off x="685800" y="6355080"/>
            <a:ext cx="10515600" cy="457200"/>
          </a:xfrm>
          <a:prstGeom prst="rect">
            <a:avLst/>
          </a:prstGeom>
          <a:noFill/>
        </p:spPr>
        <p:txBody>
          <a:bodyPr wrap="square" lIns="0" rIns="0" tIns="0" bIns="0" anchor="t">
            <a:spAutoFit/>
          </a:bodyPr>
          <a:lstStyle/>
          <a:p>
            <a:pPr algn="l">
              <a:lnSpc>
                <a:spcPct val="105000"/>
              </a:lnSpc>
              <a:spcAft>
                <a:spcPts val="400"/>
              </a:spcAft>
            </a:pPr>
            <a:r>
              <a:rPr sz="1900" b="1" i="0">
                <a:solidFill>
                  <a:srgbClr val="D9622B"/>
                </a:solidFill>
                <a:latin typeface="Arial"/>
              </a:rPr>
              <a:t>Problem Statement 01  ·  </a:t>
            </a:r>
            <a:r>
              <a:rPr sz="1900" b="0" i="0">
                <a:solidFill>
                  <a:srgbClr val="1D1D1F"/>
                </a:solidFill>
                <a:latin typeface="Arial"/>
              </a:rPr>
              <a:t>Vision-Based Autonomous Robot</a:t>
            </a:r>
          </a:p>
        </p:txBody>
      </p:sp>
      <p:sp>
        <p:nvSpPr>
          <p:cNvPr id="93" name="Rounded Rectangle 92"/>
          <p:cNvSpPr/>
          <p:nvPr/>
        </p:nvSpPr>
        <p:spPr>
          <a:xfrm>
            <a:off x="685800" y="7269480"/>
            <a:ext cx="3200400" cy="1600200"/>
          </a:xfrm>
          <a:prstGeom prst="roundRect">
            <a:avLst>
              <a:gd name="adj" fmla="val 6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68680" y="7434072"/>
            <a:ext cx="2834640" cy="640080"/>
          </a:xfrm>
          <a:prstGeom prst="rect">
            <a:avLst/>
          </a:prstGeom>
          <a:noFill/>
        </p:spPr>
        <p:txBody>
          <a:bodyPr wrap="square" lIns="0" rIns="0" tIns="0" bIns="0" anchor="t">
            <a:spAutoFit/>
          </a:bodyPr>
          <a:lstStyle/>
          <a:p>
            <a:pPr algn="ctr">
              <a:lnSpc>
                <a:spcPct val="105000"/>
              </a:lnSpc>
              <a:spcAft>
                <a:spcPts val="400"/>
              </a:spcAft>
            </a:pPr>
            <a:r>
              <a:rPr sz="3000" b="1" i="0">
                <a:solidFill>
                  <a:srgbClr val="D9622B"/>
                </a:solidFill>
                <a:latin typeface="Arial"/>
              </a:rPr>
              <a:t>YOLO26</a:t>
            </a:r>
          </a:p>
        </p:txBody>
      </p:sp>
      <p:sp>
        <p:nvSpPr>
          <p:cNvPr id="95" name="TextBox 94"/>
          <p:cNvSpPr txBox="1"/>
          <p:nvPr/>
        </p:nvSpPr>
        <p:spPr>
          <a:xfrm>
            <a:off x="868680" y="8183879"/>
            <a:ext cx="2834640" cy="548640"/>
          </a:xfrm>
          <a:prstGeom prst="rect">
            <a:avLst/>
          </a:prstGeom>
          <a:noFill/>
        </p:spPr>
        <p:txBody>
          <a:bodyPr wrap="square" lIns="0" rIns="0" tIns="0" bIns="0" anchor="t">
            <a:spAutoFit/>
          </a:bodyPr>
          <a:lstStyle/>
          <a:p>
            <a:pPr algn="ctr">
              <a:lnSpc>
                <a:spcPct val="105000"/>
              </a:lnSpc>
              <a:spcAft>
                <a:spcPts val="400"/>
              </a:spcAft>
            </a:pPr>
            <a:r>
              <a:rPr sz="1400" b="0" i="0">
                <a:solidFill>
                  <a:srgbClr val="2E4057"/>
                </a:solidFill>
                <a:latin typeface="Arial"/>
              </a:rPr>
              <a:t>real detection on my webcam</a:t>
            </a:r>
          </a:p>
        </p:txBody>
      </p:sp>
      <p:sp>
        <p:nvSpPr>
          <p:cNvPr id="96" name="Rounded Rectangle 95"/>
          <p:cNvSpPr/>
          <p:nvPr/>
        </p:nvSpPr>
        <p:spPr>
          <a:xfrm>
            <a:off x="4160520" y="7269480"/>
            <a:ext cx="3200400" cy="1600200"/>
          </a:xfrm>
          <a:prstGeom prst="roundRect">
            <a:avLst>
              <a:gd name="adj" fmla="val 6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343400" y="7434072"/>
            <a:ext cx="2834640" cy="640080"/>
          </a:xfrm>
          <a:prstGeom prst="rect">
            <a:avLst/>
          </a:prstGeom>
          <a:noFill/>
        </p:spPr>
        <p:txBody>
          <a:bodyPr wrap="square" lIns="0" rIns="0" tIns="0" bIns="0" anchor="t">
            <a:spAutoFit/>
          </a:bodyPr>
          <a:lstStyle/>
          <a:p>
            <a:pPr algn="ctr">
              <a:lnSpc>
                <a:spcPct val="105000"/>
              </a:lnSpc>
              <a:spcAft>
                <a:spcPts val="400"/>
              </a:spcAft>
            </a:pPr>
            <a:r>
              <a:rPr sz="3000" b="1" i="0">
                <a:solidFill>
                  <a:srgbClr val="D9622B"/>
                </a:solidFill>
                <a:latin typeface="Arial"/>
              </a:rPr>
              <a:t>30 / 30</a:t>
            </a:r>
          </a:p>
        </p:txBody>
      </p:sp>
      <p:sp>
        <p:nvSpPr>
          <p:cNvPr id="98" name="TextBox 97"/>
          <p:cNvSpPr txBox="1"/>
          <p:nvPr/>
        </p:nvSpPr>
        <p:spPr>
          <a:xfrm>
            <a:off x="4343400" y="8183879"/>
            <a:ext cx="2834640" cy="548640"/>
          </a:xfrm>
          <a:prstGeom prst="rect">
            <a:avLst/>
          </a:prstGeom>
          <a:noFill/>
        </p:spPr>
        <p:txBody>
          <a:bodyPr wrap="square" lIns="0" rIns="0" tIns="0" bIns="0" anchor="t">
            <a:spAutoFit/>
          </a:bodyPr>
          <a:lstStyle/>
          <a:p>
            <a:pPr algn="ctr">
              <a:lnSpc>
                <a:spcPct val="105000"/>
              </a:lnSpc>
              <a:spcAft>
                <a:spcPts val="400"/>
              </a:spcAft>
            </a:pPr>
            <a:r>
              <a:rPr sz="1400" b="0" i="0">
                <a:solidFill>
                  <a:srgbClr val="2E4057"/>
                </a:solidFill>
                <a:latin typeface="Arial"/>
              </a:rPr>
              <a:t>missions in the 3D rover twin</a:t>
            </a:r>
          </a:p>
        </p:txBody>
      </p:sp>
      <p:sp>
        <p:nvSpPr>
          <p:cNvPr id="99" name="Rounded Rectangle 98"/>
          <p:cNvSpPr/>
          <p:nvPr/>
        </p:nvSpPr>
        <p:spPr>
          <a:xfrm>
            <a:off x="7635240" y="7269480"/>
            <a:ext cx="3200400" cy="1600200"/>
          </a:xfrm>
          <a:prstGeom prst="roundRect">
            <a:avLst>
              <a:gd name="adj" fmla="val 6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818119" y="7434072"/>
            <a:ext cx="2834640" cy="640080"/>
          </a:xfrm>
          <a:prstGeom prst="rect">
            <a:avLst/>
          </a:prstGeom>
          <a:noFill/>
        </p:spPr>
        <p:txBody>
          <a:bodyPr wrap="square" lIns="0" rIns="0" tIns="0" bIns="0" anchor="t">
            <a:spAutoFit/>
          </a:bodyPr>
          <a:lstStyle/>
          <a:p>
            <a:pPr algn="ctr">
              <a:lnSpc>
                <a:spcPct val="105000"/>
              </a:lnSpc>
              <a:spcAft>
                <a:spcPts val="400"/>
              </a:spcAft>
            </a:pPr>
            <a:r>
              <a:rPr sz="3000" b="1" i="0">
                <a:solidFill>
                  <a:srgbClr val="D9622B"/>
                </a:solidFill>
                <a:latin typeface="Arial"/>
              </a:rPr>
              <a:t>Wokwi</a:t>
            </a:r>
          </a:p>
        </p:txBody>
      </p:sp>
      <p:sp>
        <p:nvSpPr>
          <p:cNvPr id="101" name="TextBox 100"/>
          <p:cNvSpPr txBox="1"/>
          <p:nvPr/>
        </p:nvSpPr>
        <p:spPr>
          <a:xfrm>
            <a:off x="7818119" y="8183879"/>
            <a:ext cx="2834640" cy="548640"/>
          </a:xfrm>
          <a:prstGeom prst="rect">
            <a:avLst/>
          </a:prstGeom>
          <a:noFill/>
        </p:spPr>
        <p:txBody>
          <a:bodyPr wrap="square" lIns="0" rIns="0" tIns="0" bIns="0" anchor="t">
            <a:spAutoFit/>
          </a:bodyPr>
          <a:lstStyle/>
          <a:p>
            <a:pPr algn="ctr">
              <a:lnSpc>
                <a:spcPct val="105000"/>
              </a:lnSpc>
              <a:spcAft>
                <a:spcPts val="400"/>
              </a:spcAft>
            </a:pPr>
            <a:r>
              <a:rPr sz="1400" b="0" i="0">
                <a:solidFill>
                  <a:srgbClr val="2E4057"/>
                </a:solidFill>
                <a:latin typeface="Arial"/>
              </a:rPr>
              <a:t>rover firmware simulated</a:t>
            </a:r>
          </a:p>
        </p:txBody>
      </p:sp>
      <p:sp>
        <p:nvSpPr>
          <p:cNvPr id="102" name="Rounded Rectangle 101"/>
          <p:cNvSpPr/>
          <p:nvPr/>
        </p:nvSpPr>
        <p:spPr>
          <a:xfrm>
            <a:off x="11795760" y="4434840"/>
            <a:ext cx="5806440" cy="53492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2161520" y="4754880"/>
            <a:ext cx="731520" cy="73152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4" name="Picture 103" descr="FaUsers.png"/>
          <p:cNvPicPr>
            <a:picLocks noChangeAspect="1"/>
          </p:cNvPicPr>
          <p:nvPr/>
        </p:nvPicPr>
        <p:blipFill>
          <a:blip r:embed="rId6"/>
          <a:stretch>
            <a:fillRect/>
          </a:stretch>
        </p:blipFill>
        <p:spPr>
          <a:xfrm>
            <a:off x="12337084" y="4930444"/>
            <a:ext cx="380390" cy="380390"/>
          </a:xfrm>
          <a:prstGeom prst="rect">
            <a:avLst/>
          </a:prstGeom>
        </p:spPr>
      </p:pic>
      <p:sp>
        <p:nvSpPr>
          <p:cNvPr id="105" name="TextBox 104"/>
          <p:cNvSpPr txBox="1"/>
          <p:nvPr/>
        </p:nvSpPr>
        <p:spPr>
          <a:xfrm>
            <a:off x="13075920" y="4864608"/>
            <a:ext cx="4389120" cy="548640"/>
          </a:xfrm>
          <a:prstGeom prst="rect">
            <a:avLst/>
          </a:prstGeom>
          <a:noFill/>
        </p:spPr>
        <p:txBody>
          <a:bodyPr wrap="square" lIns="0" rIns="0" tIns="0" bIns="0" anchor="t">
            <a:spAutoFit/>
          </a:bodyPr>
          <a:lstStyle/>
          <a:p>
            <a:pPr algn="l">
              <a:lnSpc>
                <a:spcPct val="105000"/>
              </a:lnSpc>
              <a:spcAft>
                <a:spcPts val="400"/>
              </a:spcAft>
            </a:pPr>
            <a:r>
              <a:rPr sz="2400" b="1" i="0">
                <a:solidFill>
                  <a:srgbClr val="1D1D1F"/>
                </a:solidFill>
                <a:latin typeface="Arial"/>
              </a:rPr>
              <a:t>TEAM</a:t>
            </a:r>
          </a:p>
        </p:txBody>
      </p:sp>
      <p:sp>
        <p:nvSpPr>
          <p:cNvPr id="106" name="TextBox 105"/>
          <p:cNvSpPr txBox="1"/>
          <p:nvPr/>
        </p:nvSpPr>
        <p:spPr>
          <a:xfrm>
            <a:off x="12161520" y="5715000"/>
            <a:ext cx="5120640" cy="1097280"/>
          </a:xfrm>
          <a:prstGeom prst="rect">
            <a:avLst/>
          </a:prstGeom>
          <a:noFill/>
        </p:spPr>
        <p:txBody>
          <a:bodyPr wrap="square" lIns="0" rIns="0" tIns="0" bIns="0" anchor="t">
            <a:spAutoFit/>
          </a:bodyPr>
          <a:lstStyle/>
          <a:p>
            <a:pPr algn="l">
              <a:lnSpc>
                <a:spcPct val="105000"/>
              </a:lnSpc>
              <a:spcAft>
                <a:spcPts val="400"/>
              </a:spcAft>
            </a:pPr>
            <a:r>
              <a:rPr sz="2000" b="1" i="0">
                <a:solidFill>
                  <a:srgbClr val="1D1D1F"/>
                </a:solidFill>
                <a:latin typeface="Arial"/>
              </a:rPr>
              <a:t>SYNTAX TERROR (COS)</a:t>
            </a:r>
          </a:p>
          <a:p>
            <a:pPr algn="l">
              <a:lnSpc>
                <a:spcPct val="105000"/>
              </a:lnSpc>
              <a:spcAft>
                <a:spcPts val="400"/>
              </a:spcAft>
            </a:pPr>
            <a:r>
              <a:rPr sz="1700" b="0" i="0">
                <a:solidFill>
                  <a:srgbClr val="2E4057"/>
                </a:solidFill>
                <a:latin typeface="Arial"/>
              </a:rPr>
              <a:t>Harshit  ·  solo builder</a:t>
            </a:r>
          </a:p>
        </p:txBody>
      </p:sp>
      <p:sp>
        <p:nvSpPr>
          <p:cNvPr id="107" name="Oval 106"/>
          <p:cNvSpPr/>
          <p:nvPr/>
        </p:nvSpPr>
        <p:spPr>
          <a:xfrm>
            <a:off x="12161520" y="6903720"/>
            <a:ext cx="502920" cy="502920"/>
          </a:xfrm>
          <a:prstGeom prst="ellipse">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8" name="Picture 107" descr="FaEye.png"/>
          <p:cNvPicPr>
            <a:picLocks noChangeAspect="1"/>
          </p:cNvPicPr>
          <p:nvPr/>
        </p:nvPicPr>
        <p:blipFill>
          <a:blip r:embed="rId7"/>
          <a:stretch>
            <a:fillRect/>
          </a:stretch>
        </p:blipFill>
        <p:spPr>
          <a:xfrm>
            <a:off x="12282220" y="7024420"/>
            <a:ext cx="261518" cy="261518"/>
          </a:xfrm>
          <a:prstGeom prst="rect">
            <a:avLst/>
          </a:prstGeom>
        </p:spPr>
      </p:pic>
      <p:sp>
        <p:nvSpPr>
          <p:cNvPr id="109" name="TextBox 108"/>
          <p:cNvSpPr txBox="1"/>
          <p:nvPr/>
        </p:nvSpPr>
        <p:spPr>
          <a:xfrm>
            <a:off x="12847320" y="6995159"/>
            <a:ext cx="4572000" cy="4114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Vision AI: YOLO26 + goals</a:t>
            </a:r>
          </a:p>
        </p:txBody>
      </p:sp>
      <p:sp>
        <p:nvSpPr>
          <p:cNvPr id="110" name="Oval 109"/>
          <p:cNvSpPr/>
          <p:nvPr/>
        </p:nvSpPr>
        <p:spPr>
          <a:xfrm>
            <a:off x="12161520" y="7589520"/>
            <a:ext cx="502920" cy="502920"/>
          </a:xfrm>
          <a:prstGeom prst="ellipse">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1" name="Picture 110" descr="FaBrain.png"/>
          <p:cNvPicPr>
            <a:picLocks noChangeAspect="1"/>
          </p:cNvPicPr>
          <p:nvPr/>
        </p:nvPicPr>
        <p:blipFill>
          <a:blip r:embed="rId8"/>
          <a:stretch>
            <a:fillRect/>
          </a:stretch>
        </p:blipFill>
        <p:spPr>
          <a:xfrm>
            <a:off x="12282220" y="7710220"/>
            <a:ext cx="261518" cy="261518"/>
          </a:xfrm>
          <a:prstGeom prst="rect">
            <a:avLst/>
          </a:prstGeom>
        </p:spPr>
      </p:pic>
      <p:sp>
        <p:nvSpPr>
          <p:cNvPr id="112" name="TextBox 111"/>
          <p:cNvSpPr txBox="1"/>
          <p:nvPr/>
        </p:nvSpPr>
        <p:spPr>
          <a:xfrm>
            <a:off x="12847320" y="7680960"/>
            <a:ext cx="4572000" cy="4114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Autonomy and steering</a:t>
            </a:r>
          </a:p>
        </p:txBody>
      </p:sp>
      <p:sp>
        <p:nvSpPr>
          <p:cNvPr id="113" name="Oval 112"/>
          <p:cNvSpPr/>
          <p:nvPr/>
        </p:nvSpPr>
        <p:spPr>
          <a:xfrm>
            <a:off x="12161520" y="8275320"/>
            <a:ext cx="502920" cy="502920"/>
          </a:xfrm>
          <a:prstGeom prst="ellipse">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4" name="Picture 113" descr="FaMicrochip.png"/>
          <p:cNvPicPr>
            <a:picLocks noChangeAspect="1"/>
          </p:cNvPicPr>
          <p:nvPr/>
        </p:nvPicPr>
        <p:blipFill>
          <a:blip r:embed="rId9"/>
          <a:stretch>
            <a:fillRect/>
          </a:stretch>
        </p:blipFill>
        <p:spPr>
          <a:xfrm>
            <a:off x="12282220" y="8396020"/>
            <a:ext cx="261518" cy="261518"/>
          </a:xfrm>
          <a:prstGeom prst="rect">
            <a:avLst/>
          </a:prstGeom>
        </p:spPr>
      </p:pic>
      <p:sp>
        <p:nvSpPr>
          <p:cNvPr id="115" name="TextBox 114"/>
          <p:cNvSpPr txBox="1"/>
          <p:nvPr/>
        </p:nvSpPr>
        <p:spPr>
          <a:xfrm>
            <a:off x="12847320" y="8366760"/>
            <a:ext cx="4572000" cy="4114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Firmware and circuit</a:t>
            </a:r>
          </a:p>
        </p:txBody>
      </p:sp>
      <p:sp>
        <p:nvSpPr>
          <p:cNvPr id="116" name="Oval 115"/>
          <p:cNvSpPr/>
          <p:nvPr/>
        </p:nvSpPr>
        <p:spPr>
          <a:xfrm>
            <a:off x="12161520" y="8961120"/>
            <a:ext cx="502920" cy="502920"/>
          </a:xfrm>
          <a:prstGeom prst="ellipse">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7" name="Picture 116" descr="FaCube.png"/>
          <p:cNvPicPr>
            <a:picLocks noChangeAspect="1"/>
          </p:cNvPicPr>
          <p:nvPr/>
        </p:nvPicPr>
        <p:blipFill>
          <a:blip r:embed="rId10"/>
          <a:stretch>
            <a:fillRect/>
          </a:stretch>
        </p:blipFill>
        <p:spPr>
          <a:xfrm>
            <a:off x="12282220" y="9081820"/>
            <a:ext cx="261518" cy="261518"/>
          </a:xfrm>
          <a:prstGeom prst="rect">
            <a:avLst/>
          </a:prstGeom>
        </p:spPr>
      </p:pic>
      <p:sp>
        <p:nvSpPr>
          <p:cNvPr id="118" name="TextBox 117"/>
          <p:cNvSpPr txBox="1"/>
          <p:nvPr/>
        </p:nvSpPr>
        <p:spPr>
          <a:xfrm>
            <a:off x="12847320" y="9052560"/>
            <a:ext cx="4572000" cy="4114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Simulation and 3D twin</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8" name="Google Shape;98;p14"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99" name="TextBox 98"/>
          <p:cNvSpPr txBox="1"/>
          <p:nvPr/>
        </p:nvSpPr>
        <p:spPr>
          <a:xfrm>
            <a:off x="685800" y="1417320"/>
            <a:ext cx="16916400" cy="685800"/>
          </a:xfrm>
          <a:prstGeom prst="rect">
            <a:avLst/>
          </a:prstGeom>
          <a:noFill/>
        </p:spPr>
        <p:txBody>
          <a:bodyPr wrap="square" lIns="0" rIns="0" tIns="0" bIns="0" anchor="t">
            <a:spAutoFit/>
          </a:bodyPr>
          <a:lstStyle/>
          <a:p>
            <a:pPr algn="l">
              <a:lnSpc>
                <a:spcPct val="105000"/>
              </a:lnSpc>
              <a:spcAft>
                <a:spcPts val="400"/>
              </a:spcAft>
            </a:pPr>
            <a:r>
              <a:rPr sz="3400" b="1" i="0">
                <a:solidFill>
                  <a:srgbClr val="1D1D1F"/>
                </a:solidFill>
                <a:latin typeface="Arial"/>
              </a:rPr>
              <a:t>PROBLEM STATEMENT &amp; THEME</a:t>
            </a:r>
          </a:p>
        </p:txBody>
      </p:sp>
      <p:sp>
        <p:nvSpPr>
          <p:cNvPr id="100" name="Rounded Rectangle 99"/>
          <p:cNvSpPr/>
          <p:nvPr/>
        </p:nvSpPr>
        <p:spPr>
          <a:xfrm>
            <a:off x="685800" y="2286000"/>
            <a:ext cx="16916400" cy="1417320"/>
          </a:xfrm>
          <a:prstGeom prst="roundRect">
            <a:avLst>
              <a:gd name="adj" fmla="val 6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51560" y="2450592"/>
            <a:ext cx="16276320" cy="365760"/>
          </a:xfrm>
          <a:prstGeom prst="rect">
            <a:avLst/>
          </a:prstGeom>
          <a:noFill/>
        </p:spPr>
        <p:txBody>
          <a:bodyPr wrap="square" lIns="0" rIns="0" tIns="0" bIns="0" anchor="t">
            <a:spAutoFit/>
          </a:bodyPr>
          <a:lstStyle/>
          <a:p>
            <a:pPr algn="l">
              <a:lnSpc>
                <a:spcPct val="105000"/>
              </a:lnSpc>
              <a:spcAft>
                <a:spcPts val="400"/>
              </a:spcAft>
            </a:pPr>
            <a:r>
              <a:rPr sz="1400" b="1" i="0">
                <a:solidFill>
                  <a:srgbClr val="D9622B"/>
                </a:solidFill>
                <a:latin typeface="Arial"/>
              </a:rPr>
              <a:t>PS 01  ·  VISION-BASED AUTONOMOUS ROBOT</a:t>
            </a:r>
          </a:p>
        </p:txBody>
      </p:sp>
      <p:sp>
        <p:nvSpPr>
          <p:cNvPr id="102" name="TextBox 101"/>
          <p:cNvSpPr txBox="1"/>
          <p:nvPr/>
        </p:nvSpPr>
        <p:spPr>
          <a:xfrm>
            <a:off x="1051560" y="2834640"/>
            <a:ext cx="16276320" cy="731520"/>
          </a:xfrm>
          <a:prstGeom prst="rect">
            <a:avLst/>
          </a:prstGeom>
          <a:noFill/>
        </p:spPr>
        <p:txBody>
          <a:bodyPr wrap="square" lIns="0" rIns="0" tIns="0" bIns="0" anchor="t">
            <a:spAutoFit/>
          </a:bodyPr>
          <a:lstStyle/>
          <a:p>
            <a:pPr algn="l">
              <a:lnSpc>
                <a:spcPct val="105000"/>
              </a:lnSpc>
              <a:spcAft>
                <a:spcPts val="400"/>
              </a:spcAft>
            </a:pPr>
            <a:r>
              <a:rPr sz="2200" b="1" i="0">
                <a:solidFill>
                  <a:srgbClr val="1D1D1F"/>
                </a:solidFill>
                <a:latin typeface="Arial"/>
              </a:rPr>
              <a:t>Most mobile robots follow a fixed map. When the room changes they get stuck, and only an engineer can give them a new task.</a:t>
            </a:r>
          </a:p>
        </p:txBody>
      </p:sp>
      <p:sp>
        <p:nvSpPr>
          <p:cNvPr id="103" name="Rounded Rectangle 102"/>
          <p:cNvSpPr/>
          <p:nvPr/>
        </p:nvSpPr>
        <p:spPr>
          <a:xfrm>
            <a:off x="685800" y="4023360"/>
            <a:ext cx="8229600" cy="57607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051560" y="4251960"/>
            <a:ext cx="7498079" cy="411480"/>
          </a:xfrm>
          <a:prstGeom prst="rect">
            <a:avLst/>
          </a:prstGeom>
          <a:noFill/>
        </p:spPr>
        <p:txBody>
          <a:bodyPr wrap="square" lIns="0" rIns="0" tIns="0" bIns="0" anchor="t">
            <a:spAutoFit/>
          </a:bodyPr>
          <a:lstStyle/>
          <a:p>
            <a:pPr algn="l">
              <a:lnSpc>
                <a:spcPct val="105000"/>
              </a:lnSpc>
              <a:spcAft>
                <a:spcPts val="400"/>
              </a:spcAft>
            </a:pPr>
            <a:r>
              <a:rPr sz="2000" b="1" i="0">
                <a:solidFill>
                  <a:srgbClr val="1D1D1F"/>
                </a:solidFill>
                <a:latin typeface="Arial"/>
              </a:rPr>
              <a:t>What happens today</a:t>
            </a:r>
          </a:p>
        </p:txBody>
      </p:sp>
      <p:cxnSp>
        <p:nvCxnSpPr>
          <p:cNvPr id="105" name="Connector 104"/>
          <p:cNvCxnSpPr/>
          <p:nvPr/>
        </p:nvCxnSpPr>
        <p:spPr>
          <a:xfrm>
            <a:off x="1280160" y="6035040"/>
            <a:ext cx="6949440" cy="0"/>
          </a:xfrm>
          <a:prstGeom prst="line">
            <a:avLst/>
          </a:prstGeom>
          <a:ln w="25400">
            <a:solidFill>
              <a:srgbClr val="5B616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6" name="Oval 105"/>
          <p:cNvSpPr/>
          <p:nvPr/>
        </p:nvSpPr>
        <p:spPr>
          <a:xfrm>
            <a:off x="1307592" y="5925312"/>
            <a:ext cx="219456" cy="219456"/>
          </a:xfrm>
          <a:prstGeom prst="ellipse">
            <a:avLst/>
          </a:prstGeom>
          <a:solidFill>
            <a:srgbClr val="5B6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633472" y="5925312"/>
            <a:ext cx="219456" cy="219456"/>
          </a:xfrm>
          <a:prstGeom prst="ellipse">
            <a:avLst/>
          </a:prstGeom>
          <a:solidFill>
            <a:srgbClr val="5B6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6199632" y="5925312"/>
            <a:ext cx="219456" cy="219456"/>
          </a:xfrm>
          <a:prstGeom prst="ellipse">
            <a:avLst/>
          </a:prstGeom>
          <a:solidFill>
            <a:srgbClr val="5B6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7662672" y="5925312"/>
            <a:ext cx="219456" cy="219456"/>
          </a:xfrm>
          <a:prstGeom prst="ellipse">
            <a:avLst/>
          </a:prstGeom>
          <a:solidFill>
            <a:srgbClr val="5B6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097280" y="6263640"/>
            <a:ext cx="274320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5B616E"/>
                </a:solidFill>
                <a:latin typeface="Arial"/>
              </a:rPr>
              <a:t>planned route (map)</a:t>
            </a:r>
          </a:p>
        </p:txBody>
      </p:sp>
      <p:sp>
        <p:nvSpPr>
          <p:cNvPr id="111" name="Rounded Rectangle 110"/>
          <p:cNvSpPr/>
          <p:nvPr/>
        </p:nvSpPr>
        <p:spPr>
          <a:xfrm>
            <a:off x="3383280" y="5577840"/>
            <a:ext cx="1188720" cy="731520"/>
          </a:xfrm>
          <a:prstGeom prst="roundRect">
            <a:avLst>
              <a:gd name="adj" fmla="val 20000"/>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474720" y="6217920"/>
            <a:ext cx="329184" cy="329184"/>
          </a:xfrm>
          <a:prstGeom prst="ellipse">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4160520" y="6217920"/>
            <a:ext cx="329184" cy="329184"/>
          </a:xfrm>
          <a:prstGeom prst="ellipse">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4983480" y="5303520"/>
            <a:ext cx="1005840" cy="1188720"/>
          </a:xfrm>
          <a:prstGeom prst="rect">
            <a:avLst/>
          </a:prstGeom>
          <a:solidFill>
            <a:srgbClr val="B0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300" b="1">
                <a:solidFill>
                  <a:srgbClr val="FFFFFF"/>
                </a:solidFill>
                <a:latin typeface="Arial"/>
              </a:rPr>
              <a:t>moved</a:t>
            </a:r>
          </a:p>
          <a:p>
            <a:pPr algn="ctr"/>
            <a:r>
              <a:rPr sz="1100" b="0">
                <a:solidFill>
                  <a:srgbClr val="FFFFFF"/>
                </a:solidFill>
                <a:latin typeface="Arial"/>
              </a:rPr>
              <a:t>box</a:t>
            </a:r>
          </a:p>
        </p:txBody>
      </p:sp>
      <p:sp>
        <p:nvSpPr>
          <p:cNvPr id="115" name="Rounded Rectangle 114"/>
          <p:cNvSpPr/>
          <p:nvPr/>
        </p:nvSpPr>
        <p:spPr>
          <a:xfrm>
            <a:off x="2971800" y="4709159"/>
            <a:ext cx="3017520" cy="457200"/>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300" b="1">
                <a:solidFill>
                  <a:srgbClr val="FFFFFF"/>
                </a:solidFill>
                <a:latin typeface="Arial"/>
              </a:rPr>
              <a:t>✕  STUCK: route blocked</a:t>
            </a:r>
          </a:p>
        </p:txBody>
      </p:sp>
      <p:sp>
        <p:nvSpPr>
          <p:cNvPr id="116" name="Oval 115"/>
          <p:cNvSpPr/>
          <p:nvPr/>
        </p:nvSpPr>
        <p:spPr>
          <a:xfrm>
            <a:off x="1051560" y="7269480"/>
            <a:ext cx="548640" cy="54864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7" name="Picture 116" descr="FaMap.png"/>
          <p:cNvPicPr>
            <a:picLocks noChangeAspect="1"/>
          </p:cNvPicPr>
          <p:nvPr/>
        </p:nvPicPr>
        <p:blipFill>
          <a:blip r:embed="rId4"/>
          <a:stretch>
            <a:fillRect/>
          </a:stretch>
        </p:blipFill>
        <p:spPr>
          <a:xfrm>
            <a:off x="1183233" y="7401153"/>
            <a:ext cx="285292" cy="285292"/>
          </a:xfrm>
          <a:prstGeom prst="rect">
            <a:avLst/>
          </a:prstGeom>
        </p:spPr>
      </p:pic>
      <p:sp>
        <p:nvSpPr>
          <p:cNvPr id="118" name="TextBox 117"/>
          <p:cNvSpPr txBox="1"/>
          <p:nvPr/>
        </p:nvSpPr>
        <p:spPr>
          <a:xfrm>
            <a:off x="1051560" y="7955279"/>
            <a:ext cx="2377440" cy="365760"/>
          </a:xfrm>
          <a:prstGeom prst="rect">
            <a:avLst/>
          </a:prstGeom>
          <a:noFill/>
        </p:spPr>
        <p:txBody>
          <a:bodyPr wrap="square" lIns="0" rIns="0" tIns="0" bIns="0" anchor="t">
            <a:spAutoFit/>
          </a:bodyPr>
          <a:lstStyle/>
          <a:p>
            <a:pPr algn="l">
              <a:lnSpc>
                <a:spcPct val="105000"/>
              </a:lnSpc>
              <a:spcAft>
                <a:spcPts val="400"/>
              </a:spcAft>
            </a:pPr>
            <a:r>
              <a:rPr sz="1600" b="1" i="0">
                <a:solidFill>
                  <a:srgbClr val="1D1D1F"/>
                </a:solidFill>
                <a:latin typeface="Arial"/>
              </a:rPr>
              <a:t>Maps go stale</a:t>
            </a:r>
          </a:p>
        </p:txBody>
      </p:sp>
      <p:sp>
        <p:nvSpPr>
          <p:cNvPr id="119" name="TextBox 118"/>
          <p:cNvSpPr txBox="1"/>
          <p:nvPr/>
        </p:nvSpPr>
        <p:spPr>
          <a:xfrm>
            <a:off x="1051560" y="8339327"/>
            <a:ext cx="2377440" cy="914400"/>
          </a:xfrm>
          <a:prstGeom prst="rect">
            <a:avLst/>
          </a:prstGeom>
          <a:noFill/>
        </p:spPr>
        <p:txBody>
          <a:bodyPr wrap="square" lIns="0" rIns="0" tIns="0" bIns="0" anchor="t">
            <a:spAutoFit/>
          </a:bodyPr>
          <a:lstStyle/>
          <a:p>
            <a:pPr algn="l">
              <a:lnSpc>
                <a:spcPct val="105000"/>
              </a:lnSpc>
              <a:spcAft>
                <a:spcPts val="400"/>
              </a:spcAft>
            </a:pPr>
            <a:r>
              <a:rPr sz="1400" b="0" i="0">
                <a:solidFill>
                  <a:srgbClr val="2E4057"/>
                </a:solidFill>
                <a:latin typeface="Arial"/>
              </a:rPr>
              <a:t>one moved box breaks the route</a:t>
            </a:r>
          </a:p>
        </p:txBody>
      </p:sp>
      <p:sp>
        <p:nvSpPr>
          <p:cNvPr id="120" name="Oval 119"/>
          <p:cNvSpPr/>
          <p:nvPr/>
        </p:nvSpPr>
        <p:spPr>
          <a:xfrm>
            <a:off x="3657600" y="7269480"/>
            <a:ext cx="548640" cy="54864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1" name="Picture 120" descr="FaCogs.png"/>
          <p:cNvPicPr>
            <a:picLocks noChangeAspect="1"/>
          </p:cNvPicPr>
          <p:nvPr/>
        </p:nvPicPr>
        <p:blipFill>
          <a:blip r:embed="rId5"/>
          <a:stretch>
            <a:fillRect/>
          </a:stretch>
        </p:blipFill>
        <p:spPr>
          <a:xfrm>
            <a:off x="3789273" y="7401153"/>
            <a:ext cx="285292" cy="285292"/>
          </a:xfrm>
          <a:prstGeom prst="rect">
            <a:avLst/>
          </a:prstGeom>
        </p:spPr>
      </p:pic>
      <p:sp>
        <p:nvSpPr>
          <p:cNvPr id="122" name="TextBox 121"/>
          <p:cNvSpPr txBox="1"/>
          <p:nvPr/>
        </p:nvSpPr>
        <p:spPr>
          <a:xfrm>
            <a:off x="3657600" y="7955279"/>
            <a:ext cx="2377440" cy="365760"/>
          </a:xfrm>
          <a:prstGeom prst="rect">
            <a:avLst/>
          </a:prstGeom>
          <a:noFill/>
        </p:spPr>
        <p:txBody>
          <a:bodyPr wrap="square" lIns="0" rIns="0" tIns="0" bIns="0" anchor="t">
            <a:spAutoFit/>
          </a:bodyPr>
          <a:lstStyle/>
          <a:p>
            <a:pPr algn="l">
              <a:lnSpc>
                <a:spcPct val="105000"/>
              </a:lnSpc>
              <a:spcAft>
                <a:spcPts val="400"/>
              </a:spcAft>
            </a:pPr>
            <a:r>
              <a:rPr sz="1600" b="1" i="0">
                <a:solidFill>
                  <a:srgbClr val="1D1D1F"/>
                </a:solidFill>
                <a:latin typeface="Arial"/>
              </a:rPr>
              <a:t>Hard to re-task</a:t>
            </a:r>
          </a:p>
        </p:txBody>
      </p:sp>
      <p:sp>
        <p:nvSpPr>
          <p:cNvPr id="123" name="TextBox 122"/>
          <p:cNvSpPr txBox="1"/>
          <p:nvPr/>
        </p:nvSpPr>
        <p:spPr>
          <a:xfrm>
            <a:off x="3657600" y="8339327"/>
            <a:ext cx="2377440" cy="914400"/>
          </a:xfrm>
          <a:prstGeom prst="rect">
            <a:avLst/>
          </a:prstGeom>
          <a:noFill/>
        </p:spPr>
        <p:txBody>
          <a:bodyPr wrap="square" lIns="0" rIns="0" tIns="0" bIns="0" anchor="t">
            <a:spAutoFit/>
          </a:bodyPr>
          <a:lstStyle/>
          <a:p>
            <a:pPr algn="l">
              <a:lnSpc>
                <a:spcPct val="105000"/>
              </a:lnSpc>
              <a:spcAft>
                <a:spcPts val="400"/>
              </a:spcAft>
            </a:pPr>
            <a:r>
              <a:rPr sz="1400" b="0" i="0">
                <a:solidFill>
                  <a:srgbClr val="2E4057"/>
                </a:solidFill>
                <a:latin typeface="Arial"/>
              </a:rPr>
              <a:t>new job = engineer reprograms</a:t>
            </a:r>
          </a:p>
        </p:txBody>
      </p:sp>
      <p:sp>
        <p:nvSpPr>
          <p:cNvPr id="124" name="Oval 123"/>
          <p:cNvSpPr/>
          <p:nvPr/>
        </p:nvSpPr>
        <p:spPr>
          <a:xfrm>
            <a:off x="6263640" y="7269480"/>
            <a:ext cx="548640" cy="54864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5" name="Picture 124" descr="FaRupeeSign.png"/>
          <p:cNvPicPr>
            <a:picLocks noChangeAspect="1"/>
          </p:cNvPicPr>
          <p:nvPr/>
        </p:nvPicPr>
        <p:blipFill>
          <a:blip r:embed="rId6"/>
          <a:stretch>
            <a:fillRect/>
          </a:stretch>
        </p:blipFill>
        <p:spPr>
          <a:xfrm>
            <a:off x="6395313" y="7401153"/>
            <a:ext cx="285292" cy="285292"/>
          </a:xfrm>
          <a:prstGeom prst="rect">
            <a:avLst/>
          </a:prstGeom>
        </p:spPr>
      </p:pic>
      <p:sp>
        <p:nvSpPr>
          <p:cNvPr id="126" name="TextBox 125"/>
          <p:cNvSpPr txBox="1"/>
          <p:nvPr/>
        </p:nvSpPr>
        <p:spPr>
          <a:xfrm>
            <a:off x="6263640" y="7955279"/>
            <a:ext cx="2377440" cy="365760"/>
          </a:xfrm>
          <a:prstGeom prst="rect">
            <a:avLst/>
          </a:prstGeom>
          <a:noFill/>
        </p:spPr>
        <p:txBody>
          <a:bodyPr wrap="square" lIns="0" rIns="0" tIns="0" bIns="0" anchor="t">
            <a:spAutoFit/>
          </a:bodyPr>
          <a:lstStyle/>
          <a:p>
            <a:pPr algn="l">
              <a:lnSpc>
                <a:spcPct val="105000"/>
              </a:lnSpc>
              <a:spcAft>
                <a:spcPts val="400"/>
              </a:spcAft>
            </a:pPr>
            <a:r>
              <a:rPr sz="1600" b="1" i="0">
                <a:solidFill>
                  <a:srgbClr val="1D1D1F"/>
                </a:solidFill>
                <a:latin typeface="Arial"/>
              </a:rPr>
              <a:t>Costly sensing</a:t>
            </a:r>
          </a:p>
        </p:txBody>
      </p:sp>
      <p:sp>
        <p:nvSpPr>
          <p:cNvPr id="127" name="TextBox 126"/>
          <p:cNvSpPr txBox="1"/>
          <p:nvPr/>
        </p:nvSpPr>
        <p:spPr>
          <a:xfrm>
            <a:off x="6263640" y="8339327"/>
            <a:ext cx="2377440" cy="914400"/>
          </a:xfrm>
          <a:prstGeom prst="rect">
            <a:avLst/>
          </a:prstGeom>
          <a:noFill/>
        </p:spPr>
        <p:txBody>
          <a:bodyPr wrap="square" lIns="0" rIns="0" tIns="0" bIns="0" anchor="t">
            <a:spAutoFit/>
          </a:bodyPr>
          <a:lstStyle/>
          <a:p>
            <a:pPr algn="l">
              <a:lnSpc>
                <a:spcPct val="105000"/>
              </a:lnSpc>
              <a:spcAft>
                <a:spcPts val="400"/>
              </a:spcAft>
            </a:pPr>
            <a:r>
              <a:rPr sz="1400" b="0" i="0">
                <a:solidFill>
                  <a:srgbClr val="2E4057"/>
                </a:solidFill>
                <a:latin typeface="Arial"/>
              </a:rPr>
              <a:t>LiDAR robots cost lakhs</a:t>
            </a:r>
          </a:p>
        </p:txBody>
      </p:sp>
      <p:sp>
        <p:nvSpPr>
          <p:cNvPr id="128" name="Rounded Rectangle 127"/>
          <p:cNvSpPr/>
          <p:nvPr/>
        </p:nvSpPr>
        <p:spPr>
          <a:xfrm>
            <a:off x="9281160" y="4023360"/>
            <a:ext cx="8321040" cy="14630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9601200" y="4407408"/>
            <a:ext cx="685800" cy="68580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0" name="Picture 129" descr="FaWarehouse.png"/>
          <p:cNvPicPr>
            <a:picLocks noChangeAspect="1"/>
          </p:cNvPicPr>
          <p:nvPr/>
        </p:nvPicPr>
        <p:blipFill>
          <a:blip r:embed="rId7"/>
          <a:stretch>
            <a:fillRect/>
          </a:stretch>
        </p:blipFill>
        <p:spPr>
          <a:xfrm>
            <a:off x="9765792" y="4572000"/>
            <a:ext cx="356616" cy="356616"/>
          </a:xfrm>
          <a:prstGeom prst="rect">
            <a:avLst/>
          </a:prstGeom>
        </p:spPr>
      </p:pic>
      <p:sp>
        <p:nvSpPr>
          <p:cNvPr id="131" name="TextBox 130"/>
          <p:cNvSpPr txBox="1"/>
          <p:nvPr/>
        </p:nvSpPr>
        <p:spPr>
          <a:xfrm>
            <a:off x="10515600" y="4251960"/>
            <a:ext cx="6858000" cy="1143000"/>
          </a:xfrm>
          <a:prstGeom prst="rect">
            <a:avLst/>
          </a:prstGeom>
          <a:noFill/>
        </p:spPr>
        <p:txBody>
          <a:bodyPr wrap="square" lIns="0" rIns="0" tIns="0" bIns="0" anchor="ctr">
            <a:spAutoFit/>
          </a:bodyPr>
          <a:lstStyle/>
          <a:p>
            <a:pPr algn="l">
              <a:lnSpc>
                <a:spcPct val="105000"/>
              </a:lnSpc>
              <a:spcAft>
                <a:spcPts val="400"/>
              </a:spcAft>
            </a:pPr>
            <a:r>
              <a:rPr sz="1500" b="1" i="0">
                <a:solidFill>
                  <a:srgbClr val="D9622B"/>
                </a:solidFill>
                <a:latin typeface="Arial"/>
              </a:rPr>
              <a:t>Impact  </a:t>
            </a:r>
            <a:r>
              <a:rPr sz="1500" b="0" i="0">
                <a:solidFill>
                  <a:srgbClr val="1D1D1F"/>
                </a:solidFill>
                <a:latin typeface="Arial"/>
              </a:rPr>
              <a:t>Small warehouses, labs and hospitals can't afford a mapping project for every change. A camera rover that understands its goal works the same day.</a:t>
            </a:r>
          </a:p>
        </p:txBody>
      </p:sp>
      <p:sp>
        <p:nvSpPr>
          <p:cNvPr id="132" name="TextBox 131"/>
          <p:cNvSpPr txBox="1"/>
          <p:nvPr/>
        </p:nvSpPr>
        <p:spPr>
          <a:xfrm>
            <a:off x="9281160" y="5760720"/>
            <a:ext cx="8321040" cy="411480"/>
          </a:xfrm>
          <a:prstGeom prst="rect">
            <a:avLst/>
          </a:prstGeom>
          <a:noFill/>
        </p:spPr>
        <p:txBody>
          <a:bodyPr wrap="square" lIns="0" rIns="0" tIns="0" bIns="0" anchor="t">
            <a:spAutoFit/>
          </a:bodyPr>
          <a:lstStyle/>
          <a:p>
            <a:pPr algn="l">
              <a:lnSpc>
                <a:spcPct val="105000"/>
              </a:lnSpc>
              <a:spcAft>
                <a:spcPts val="400"/>
              </a:spcAft>
            </a:pPr>
            <a:r>
              <a:rPr sz="1700" b="1" i="0">
                <a:solidFill>
                  <a:srgbClr val="1D1D1F"/>
                </a:solidFill>
                <a:latin typeface="Arial"/>
              </a:rPr>
              <a:t>Theme alignment: what PS 01 asks for, and where it is in SightSeeker</a:t>
            </a:r>
          </a:p>
        </p:txBody>
      </p:sp>
      <p:sp>
        <p:nvSpPr>
          <p:cNvPr id="133" name="Rounded Rectangle 132"/>
          <p:cNvSpPr/>
          <p:nvPr/>
        </p:nvSpPr>
        <p:spPr>
          <a:xfrm>
            <a:off x="9281160" y="6309360"/>
            <a:ext cx="2633472" cy="100584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9418320" y="6446520"/>
            <a:ext cx="2423160" cy="365760"/>
          </a:xfrm>
          <a:prstGeom prst="rect">
            <a:avLst/>
          </a:prstGeom>
          <a:noFill/>
        </p:spPr>
        <p:txBody>
          <a:bodyPr wrap="square" lIns="0" rIns="0" tIns="0" bIns="0" anchor="t">
            <a:spAutoFit/>
          </a:bodyPr>
          <a:lstStyle/>
          <a:p>
            <a:pPr algn="l">
              <a:lnSpc>
                <a:spcPct val="105000"/>
              </a:lnSpc>
              <a:spcAft>
                <a:spcPts val="400"/>
              </a:spcAft>
            </a:pPr>
            <a:r>
              <a:rPr sz="1400" b="1" i="0">
                <a:solidFill>
                  <a:srgbClr val="1E8E5A"/>
                </a:solidFill>
                <a:latin typeface="Arial"/>
              </a:rPr>
              <a:t>✓ </a:t>
            </a:r>
            <a:r>
              <a:rPr sz="1400" b="1" i="0">
                <a:solidFill>
                  <a:srgbClr val="1D1D1F"/>
                </a:solidFill>
                <a:latin typeface="Arial"/>
              </a:rPr>
              <a:t>Object detection</a:t>
            </a:r>
          </a:p>
        </p:txBody>
      </p:sp>
      <p:sp>
        <p:nvSpPr>
          <p:cNvPr id="135" name="TextBox 134"/>
          <p:cNvSpPr txBox="1"/>
          <p:nvPr/>
        </p:nvSpPr>
        <p:spPr>
          <a:xfrm>
            <a:off x="9418320" y="6858000"/>
            <a:ext cx="242316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5B616E"/>
                </a:solidFill>
                <a:latin typeface="Arial"/>
              </a:rPr>
              <a:t>YOLO26</a:t>
            </a:r>
          </a:p>
        </p:txBody>
      </p:sp>
      <p:sp>
        <p:nvSpPr>
          <p:cNvPr id="136" name="Rounded Rectangle 135"/>
          <p:cNvSpPr/>
          <p:nvPr/>
        </p:nvSpPr>
        <p:spPr>
          <a:xfrm>
            <a:off x="12088368" y="6309360"/>
            <a:ext cx="2633472" cy="100584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2225528" y="6446520"/>
            <a:ext cx="2423160" cy="365760"/>
          </a:xfrm>
          <a:prstGeom prst="rect">
            <a:avLst/>
          </a:prstGeom>
          <a:noFill/>
        </p:spPr>
        <p:txBody>
          <a:bodyPr wrap="square" lIns="0" rIns="0" tIns="0" bIns="0" anchor="t">
            <a:spAutoFit/>
          </a:bodyPr>
          <a:lstStyle/>
          <a:p>
            <a:pPr algn="l">
              <a:lnSpc>
                <a:spcPct val="105000"/>
              </a:lnSpc>
              <a:spcAft>
                <a:spcPts val="400"/>
              </a:spcAft>
            </a:pPr>
            <a:r>
              <a:rPr sz="1400" b="1" i="0">
                <a:solidFill>
                  <a:srgbClr val="1E8E5A"/>
                </a:solidFill>
                <a:latin typeface="Arial"/>
              </a:rPr>
              <a:t>✓ </a:t>
            </a:r>
            <a:r>
              <a:rPr sz="1400" b="1" i="0">
                <a:solidFill>
                  <a:srgbClr val="1D1D1F"/>
                </a:solidFill>
                <a:latin typeface="Arial"/>
              </a:rPr>
              <a:t>Scene understanding</a:t>
            </a:r>
          </a:p>
        </p:txBody>
      </p:sp>
      <p:sp>
        <p:nvSpPr>
          <p:cNvPr id="138" name="TextBox 137"/>
          <p:cNvSpPr txBox="1"/>
          <p:nvPr/>
        </p:nvSpPr>
        <p:spPr>
          <a:xfrm>
            <a:off x="12225528" y="6858000"/>
            <a:ext cx="242316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5B616E"/>
                </a:solidFill>
                <a:latin typeface="Arial"/>
              </a:rPr>
              <a:t>objects + distance</a:t>
            </a:r>
          </a:p>
        </p:txBody>
      </p:sp>
      <p:sp>
        <p:nvSpPr>
          <p:cNvPr id="139" name="Rounded Rectangle 138"/>
          <p:cNvSpPr/>
          <p:nvPr/>
        </p:nvSpPr>
        <p:spPr>
          <a:xfrm>
            <a:off x="14895576" y="6309360"/>
            <a:ext cx="2633472" cy="100584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5032735" y="6446520"/>
            <a:ext cx="2423160" cy="365760"/>
          </a:xfrm>
          <a:prstGeom prst="rect">
            <a:avLst/>
          </a:prstGeom>
          <a:noFill/>
        </p:spPr>
        <p:txBody>
          <a:bodyPr wrap="square" lIns="0" rIns="0" tIns="0" bIns="0" anchor="t">
            <a:spAutoFit/>
          </a:bodyPr>
          <a:lstStyle/>
          <a:p>
            <a:pPr algn="l">
              <a:lnSpc>
                <a:spcPct val="105000"/>
              </a:lnSpc>
              <a:spcAft>
                <a:spcPts val="400"/>
              </a:spcAft>
            </a:pPr>
            <a:r>
              <a:rPr sz="1400" b="1" i="0">
                <a:solidFill>
                  <a:srgbClr val="1E8E5A"/>
                </a:solidFill>
                <a:latin typeface="Arial"/>
              </a:rPr>
              <a:t>✓ </a:t>
            </a:r>
            <a:r>
              <a:rPr sz="1400" b="1" i="0">
                <a:solidFill>
                  <a:srgbClr val="1D1D1F"/>
                </a:solidFill>
                <a:latin typeface="Arial"/>
              </a:rPr>
              <a:t>Language goals</a:t>
            </a:r>
          </a:p>
        </p:txBody>
      </p:sp>
      <p:sp>
        <p:nvSpPr>
          <p:cNvPr id="141" name="TextBox 140"/>
          <p:cNvSpPr txBox="1"/>
          <p:nvPr/>
        </p:nvSpPr>
        <p:spPr>
          <a:xfrm>
            <a:off x="15032735" y="6858000"/>
            <a:ext cx="242316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5B616E"/>
                </a:solidFill>
                <a:latin typeface="Arial"/>
              </a:rPr>
              <a:t>“find the bottle”</a:t>
            </a:r>
          </a:p>
        </p:txBody>
      </p:sp>
      <p:sp>
        <p:nvSpPr>
          <p:cNvPr id="142" name="Rounded Rectangle 141"/>
          <p:cNvSpPr/>
          <p:nvPr/>
        </p:nvSpPr>
        <p:spPr>
          <a:xfrm>
            <a:off x="9281160" y="7470648"/>
            <a:ext cx="2633472" cy="100584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418320" y="7607808"/>
            <a:ext cx="2423160" cy="365760"/>
          </a:xfrm>
          <a:prstGeom prst="rect">
            <a:avLst/>
          </a:prstGeom>
          <a:noFill/>
        </p:spPr>
        <p:txBody>
          <a:bodyPr wrap="square" lIns="0" rIns="0" tIns="0" bIns="0" anchor="t">
            <a:spAutoFit/>
          </a:bodyPr>
          <a:lstStyle/>
          <a:p>
            <a:pPr algn="l">
              <a:lnSpc>
                <a:spcPct val="105000"/>
              </a:lnSpc>
              <a:spcAft>
                <a:spcPts val="400"/>
              </a:spcAft>
            </a:pPr>
            <a:r>
              <a:rPr sz="1400" b="1" i="0">
                <a:solidFill>
                  <a:srgbClr val="1E8E5A"/>
                </a:solidFill>
                <a:latin typeface="Arial"/>
              </a:rPr>
              <a:t>✓ </a:t>
            </a:r>
            <a:r>
              <a:rPr sz="1400" b="1" i="0">
                <a:solidFill>
                  <a:srgbClr val="1D1D1F"/>
                </a:solidFill>
                <a:latin typeface="Arial"/>
              </a:rPr>
              <a:t>Obstacle avoidance</a:t>
            </a:r>
          </a:p>
        </p:txBody>
      </p:sp>
      <p:sp>
        <p:nvSpPr>
          <p:cNvPr id="144" name="TextBox 143"/>
          <p:cNvSpPr txBox="1"/>
          <p:nvPr/>
        </p:nvSpPr>
        <p:spPr>
          <a:xfrm>
            <a:off x="9418320" y="8019288"/>
            <a:ext cx="242316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5B616E"/>
                </a:solidFill>
                <a:latin typeface="Arial"/>
              </a:rPr>
              <a:t>camera + HC-SR04</a:t>
            </a:r>
          </a:p>
        </p:txBody>
      </p:sp>
      <p:sp>
        <p:nvSpPr>
          <p:cNvPr id="145" name="Rounded Rectangle 144"/>
          <p:cNvSpPr/>
          <p:nvPr/>
        </p:nvSpPr>
        <p:spPr>
          <a:xfrm>
            <a:off x="12088368" y="7470648"/>
            <a:ext cx="2633472" cy="100584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2225528" y="7607808"/>
            <a:ext cx="2423160" cy="365760"/>
          </a:xfrm>
          <a:prstGeom prst="rect">
            <a:avLst/>
          </a:prstGeom>
          <a:noFill/>
        </p:spPr>
        <p:txBody>
          <a:bodyPr wrap="square" lIns="0" rIns="0" tIns="0" bIns="0" anchor="t">
            <a:spAutoFit/>
          </a:bodyPr>
          <a:lstStyle/>
          <a:p>
            <a:pPr algn="l">
              <a:lnSpc>
                <a:spcPct val="105000"/>
              </a:lnSpc>
              <a:spcAft>
                <a:spcPts val="400"/>
              </a:spcAft>
            </a:pPr>
            <a:r>
              <a:rPr sz="1400" b="1" i="0">
                <a:solidFill>
                  <a:srgbClr val="1E8E5A"/>
                </a:solidFill>
                <a:latin typeface="Arial"/>
              </a:rPr>
              <a:t>✓ </a:t>
            </a:r>
            <a:r>
              <a:rPr sz="1400" b="1" i="0">
                <a:solidFill>
                  <a:srgbClr val="1D1D1F"/>
                </a:solidFill>
                <a:latin typeface="Arial"/>
              </a:rPr>
              <a:t>Motor control</a:t>
            </a:r>
          </a:p>
        </p:txBody>
      </p:sp>
      <p:sp>
        <p:nvSpPr>
          <p:cNvPr id="147" name="TextBox 146"/>
          <p:cNvSpPr txBox="1"/>
          <p:nvPr/>
        </p:nvSpPr>
        <p:spPr>
          <a:xfrm>
            <a:off x="12225528" y="8019288"/>
            <a:ext cx="242316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5B616E"/>
                </a:solidFill>
                <a:latin typeface="Arial"/>
              </a:rPr>
              <a:t>L298N wheel PWM</a:t>
            </a:r>
          </a:p>
        </p:txBody>
      </p:sp>
      <p:sp>
        <p:nvSpPr>
          <p:cNvPr id="148" name="Rounded Rectangle 147"/>
          <p:cNvSpPr/>
          <p:nvPr/>
        </p:nvSpPr>
        <p:spPr>
          <a:xfrm>
            <a:off x="14895576" y="7470648"/>
            <a:ext cx="2633472" cy="100584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5032735" y="7607808"/>
            <a:ext cx="2423160" cy="365760"/>
          </a:xfrm>
          <a:prstGeom prst="rect">
            <a:avLst/>
          </a:prstGeom>
          <a:noFill/>
        </p:spPr>
        <p:txBody>
          <a:bodyPr wrap="square" lIns="0" rIns="0" tIns="0" bIns="0" anchor="t">
            <a:spAutoFit/>
          </a:bodyPr>
          <a:lstStyle/>
          <a:p>
            <a:pPr algn="l">
              <a:lnSpc>
                <a:spcPct val="105000"/>
              </a:lnSpc>
              <a:spcAft>
                <a:spcPts val="400"/>
              </a:spcAft>
            </a:pPr>
            <a:r>
              <a:rPr sz="1400" b="1" i="0">
                <a:solidFill>
                  <a:srgbClr val="1E8E5A"/>
                </a:solidFill>
                <a:latin typeface="Arial"/>
              </a:rPr>
              <a:t>✓ </a:t>
            </a:r>
            <a:r>
              <a:rPr sz="1400" b="1" i="0">
                <a:solidFill>
                  <a:srgbClr val="1D1D1F"/>
                </a:solidFill>
                <a:latin typeface="Arial"/>
              </a:rPr>
              <a:t>Real-time decisions</a:t>
            </a:r>
          </a:p>
        </p:txBody>
      </p:sp>
      <p:sp>
        <p:nvSpPr>
          <p:cNvPr id="150" name="TextBox 149"/>
          <p:cNvSpPr txBox="1"/>
          <p:nvPr/>
        </p:nvSpPr>
        <p:spPr>
          <a:xfrm>
            <a:off x="15032735" y="8019288"/>
            <a:ext cx="242316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5B616E"/>
                </a:solidFill>
                <a:latin typeface="Arial"/>
              </a:rPr>
              <a:t>state machine</a:t>
            </a:r>
          </a:p>
        </p:txBody>
      </p:sp>
      <p:sp>
        <p:nvSpPr>
          <p:cNvPr id="151" name="Rounded Rectangle 150"/>
          <p:cNvSpPr/>
          <p:nvPr/>
        </p:nvSpPr>
        <p:spPr>
          <a:xfrm>
            <a:off x="9281160" y="8631936"/>
            <a:ext cx="2633472" cy="100584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9418320" y="8769096"/>
            <a:ext cx="2423160" cy="365760"/>
          </a:xfrm>
          <a:prstGeom prst="rect">
            <a:avLst/>
          </a:prstGeom>
          <a:noFill/>
        </p:spPr>
        <p:txBody>
          <a:bodyPr wrap="square" lIns="0" rIns="0" tIns="0" bIns="0" anchor="t">
            <a:spAutoFit/>
          </a:bodyPr>
          <a:lstStyle/>
          <a:p>
            <a:pPr algn="l">
              <a:lnSpc>
                <a:spcPct val="105000"/>
              </a:lnSpc>
              <a:spcAft>
                <a:spcPts val="400"/>
              </a:spcAft>
            </a:pPr>
            <a:r>
              <a:rPr sz="1400" b="1" i="0">
                <a:solidFill>
                  <a:srgbClr val="1E8E5A"/>
                </a:solidFill>
                <a:latin typeface="Arial"/>
              </a:rPr>
              <a:t>✓ </a:t>
            </a:r>
            <a:r>
              <a:rPr sz="1400" b="1" i="0">
                <a:solidFill>
                  <a:srgbClr val="1D1D1F"/>
                </a:solidFill>
                <a:latin typeface="Arial"/>
              </a:rPr>
              <a:t>Autonomous navigation</a:t>
            </a:r>
          </a:p>
        </p:txBody>
      </p:sp>
      <p:sp>
        <p:nvSpPr>
          <p:cNvPr id="153" name="TextBox 152"/>
          <p:cNvSpPr txBox="1"/>
          <p:nvPr/>
        </p:nvSpPr>
        <p:spPr>
          <a:xfrm>
            <a:off x="9418320" y="9180576"/>
            <a:ext cx="242316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5B616E"/>
                </a:solidFill>
                <a:latin typeface="Arial"/>
              </a:rPr>
              <a:t>search → reach</a:t>
            </a:r>
          </a:p>
        </p:txBody>
      </p:sp>
      <p:sp>
        <p:nvSpPr>
          <p:cNvPr id="154" name="Rounded Rectangle 153"/>
          <p:cNvSpPr/>
          <p:nvPr/>
        </p:nvSpPr>
        <p:spPr>
          <a:xfrm>
            <a:off x="12088368" y="8631936"/>
            <a:ext cx="2633472" cy="100584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2225528" y="8769096"/>
            <a:ext cx="2423160" cy="365760"/>
          </a:xfrm>
          <a:prstGeom prst="rect">
            <a:avLst/>
          </a:prstGeom>
          <a:noFill/>
        </p:spPr>
        <p:txBody>
          <a:bodyPr wrap="square" lIns="0" rIns="0" tIns="0" bIns="0" anchor="t">
            <a:spAutoFit/>
          </a:bodyPr>
          <a:lstStyle/>
          <a:p>
            <a:pPr algn="l">
              <a:lnSpc>
                <a:spcPct val="105000"/>
              </a:lnSpc>
              <a:spcAft>
                <a:spcPts val="400"/>
              </a:spcAft>
            </a:pPr>
            <a:r>
              <a:rPr sz="1400" b="1" i="0">
                <a:solidFill>
                  <a:srgbClr val="1E8E5A"/>
                </a:solidFill>
                <a:latin typeface="Arial"/>
              </a:rPr>
              <a:t>✓ </a:t>
            </a:r>
            <a:r>
              <a:rPr sz="1400" b="1" i="0">
                <a:solidFill>
                  <a:srgbClr val="1D1D1F"/>
                </a:solidFill>
                <a:latin typeface="Arial"/>
              </a:rPr>
              <a:t>Sensors</a:t>
            </a:r>
          </a:p>
        </p:txBody>
      </p:sp>
      <p:sp>
        <p:nvSpPr>
          <p:cNvPr id="156" name="TextBox 155"/>
          <p:cNvSpPr txBox="1"/>
          <p:nvPr/>
        </p:nvSpPr>
        <p:spPr>
          <a:xfrm>
            <a:off x="12225528" y="9180576"/>
            <a:ext cx="242316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5B616E"/>
                </a:solidFill>
                <a:latin typeface="Arial"/>
              </a:rPr>
              <a:t>camera, ultrasonic</a:t>
            </a:r>
          </a:p>
        </p:txBody>
      </p:sp>
      <p:sp>
        <p:nvSpPr>
          <p:cNvPr id="157" name="Rounded Rectangle 156"/>
          <p:cNvSpPr/>
          <p:nvPr/>
        </p:nvSpPr>
        <p:spPr>
          <a:xfrm>
            <a:off x="14895576" y="8631936"/>
            <a:ext cx="2633472" cy="100584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5032735" y="8769096"/>
            <a:ext cx="2423160" cy="365760"/>
          </a:xfrm>
          <a:prstGeom prst="rect">
            <a:avLst/>
          </a:prstGeom>
          <a:noFill/>
        </p:spPr>
        <p:txBody>
          <a:bodyPr wrap="square" lIns="0" rIns="0" tIns="0" bIns="0" anchor="t">
            <a:spAutoFit/>
          </a:bodyPr>
          <a:lstStyle/>
          <a:p>
            <a:pPr algn="l">
              <a:lnSpc>
                <a:spcPct val="105000"/>
              </a:lnSpc>
              <a:spcAft>
                <a:spcPts val="400"/>
              </a:spcAft>
            </a:pPr>
            <a:r>
              <a:rPr sz="1400" b="1" i="0">
                <a:solidFill>
                  <a:srgbClr val="1E8E5A"/>
                </a:solidFill>
                <a:latin typeface="Arial"/>
              </a:rPr>
              <a:t>✓ </a:t>
            </a:r>
            <a:r>
              <a:rPr sz="1400" b="1" i="0">
                <a:solidFill>
                  <a:srgbClr val="1D1D1F"/>
                </a:solidFill>
                <a:latin typeface="Arial"/>
              </a:rPr>
              <a:t>Safety</a:t>
            </a:r>
          </a:p>
        </p:txBody>
      </p:sp>
      <p:sp>
        <p:nvSpPr>
          <p:cNvPr id="159" name="TextBox 158"/>
          <p:cNvSpPr txBox="1"/>
          <p:nvPr/>
        </p:nvSpPr>
        <p:spPr>
          <a:xfrm>
            <a:off x="15032735" y="9180576"/>
            <a:ext cx="242316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5B616E"/>
                </a:solidFill>
                <a:latin typeface="Arial"/>
              </a:rPr>
              <a:t>watchdog, 25 cm stop</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7" name="Google Shape;107;p15"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08" name="TextBox 107"/>
          <p:cNvSpPr txBox="1"/>
          <p:nvPr/>
        </p:nvSpPr>
        <p:spPr>
          <a:xfrm>
            <a:off x="685800" y="1417320"/>
            <a:ext cx="16916400" cy="685800"/>
          </a:xfrm>
          <a:prstGeom prst="rect">
            <a:avLst/>
          </a:prstGeom>
          <a:noFill/>
        </p:spPr>
        <p:txBody>
          <a:bodyPr wrap="square" lIns="0" rIns="0" tIns="0" bIns="0" anchor="t">
            <a:spAutoFit/>
          </a:bodyPr>
          <a:lstStyle/>
          <a:p>
            <a:pPr algn="l">
              <a:lnSpc>
                <a:spcPct val="105000"/>
              </a:lnSpc>
              <a:spcAft>
                <a:spcPts val="400"/>
              </a:spcAft>
            </a:pPr>
            <a:r>
              <a:rPr sz="3400" b="1" i="0">
                <a:solidFill>
                  <a:srgbClr val="1D1D1F"/>
                </a:solidFill>
                <a:latin typeface="Arial"/>
              </a:rPr>
              <a:t>SOLUTION</a:t>
            </a:r>
          </a:p>
        </p:txBody>
      </p:sp>
      <p:sp>
        <p:nvSpPr>
          <p:cNvPr id="109" name="TextBox 108"/>
          <p:cNvSpPr txBox="1"/>
          <p:nvPr/>
        </p:nvSpPr>
        <p:spPr>
          <a:xfrm>
            <a:off x="685800" y="2103120"/>
            <a:ext cx="16916400" cy="457200"/>
          </a:xfrm>
          <a:prstGeom prst="rect">
            <a:avLst/>
          </a:prstGeom>
          <a:noFill/>
        </p:spPr>
        <p:txBody>
          <a:bodyPr wrap="square" lIns="0" rIns="0" tIns="0" bIns="0" anchor="t">
            <a:spAutoFit/>
          </a:bodyPr>
          <a:lstStyle/>
          <a:p>
            <a:pPr algn="l">
              <a:lnSpc>
                <a:spcPct val="105000"/>
              </a:lnSpc>
              <a:spcAft>
                <a:spcPts val="400"/>
              </a:spcAft>
            </a:pPr>
            <a:r>
              <a:rPr sz="1800" b="0" i="0">
                <a:solidFill>
                  <a:srgbClr val="5B616E"/>
                </a:solidFill>
                <a:latin typeface="Arial"/>
              </a:rPr>
              <a:t>Say what to find. SightSeeker sees it, decides how to get there and drives, with safety checks on the rover itself.</a:t>
            </a:r>
          </a:p>
        </p:txBody>
      </p:sp>
      <p:sp>
        <p:nvSpPr>
          <p:cNvPr id="110" name="Rounded Rectangle 109"/>
          <p:cNvSpPr/>
          <p:nvPr/>
        </p:nvSpPr>
        <p:spPr>
          <a:xfrm>
            <a:off x="685800" y="2788920"/>
            <a:ext cx="16916400" cy="25146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965960" y="3017520"/>
            <a:ext cx="914400" cy="91440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2" name="Picture 111" descr="FaComments.png"/>
          <p:cNvPicPr>
            <a:picLocks noChangeAspect="1"/>
          </p:cNvPicPr>
          <p:nvPr/>
        </p:nvPicPr>
        <p:blipFill>
          <a:blip r:embed="rId4"/>
          <a:stretch>
            <a:fillRect/>
          </a:stretch>
        </p:blipFill>
        <p:spPr>
          <a:xfrm>
            <a:off x="2185415" y="3236976"/>
            <a:ext cx="475488" cy="475488"/>
          </a:xfrm>
          <a:prstGeom prst="rect">
            <a:avLst/>
          </a:prstGeom>
        </p:spPr>
      </p:pic>
      <p:sp>
        <p:nvSpPr>
          <p:cNvPr id="113" name="TextBox 112"/>
          <p:cNvSpPr txBox="1"/>
          <p:nvPr/>
        </p:nvSpPr>
        <p:spPr>
          <a:xfrm>
            <a:off x="1097280" y="4041648"/>
            <a:ext cx="2651760" cy="411480"/>
          </a:xfrm>
          <a:prstGeom prst="rect">
            <a:avLst/>
          </a:prstGeom>
          <a:noFill/>
        </p:spPr>
        <p:txBody>
          <a:bodyPr wrap="square" lIns="0" rIns="0" tIns="0" bIns="0" anchor="t">
            <a:spAutoFit/>
          </a:bodyPr>
          <a:lstStyle/>
          <a:p>
            <a:pPr algn="ctr">
              <a:lnSpc>
                <a:spcPct val="105000"/>
              </a:lnSpc>
              <a:spcAft>
                <a:spcPts val="400"/>
              </a:spcAft>
            </a:pPr>
            <a:r>
              <a:rPr sz="2000" b="1" i="0">
                <a:solidFill>
                  <a:srgbClr val="1D1D1F"/>
                </a:solidFill>
                <a:latin typeface="Arial"/>
              </a:rPr>
              <a:t>Ask</a:t>
            </a:r>
          </a:p>
        </p:txBody>
      </p:sp>
      <p:sp>
        <p:nvSpPr>
          <p:cNvPr id="114" name="TextBox 113"/>
          <p:cNvSpPr txBox="1"/>
          <p:nvPr/>
        </p:nvSpPr>
        <p:spPr>
          <a:xfrm>
            <a:off x="1097280" y="4480560"/>
            <a:ext cx="2651760" cy="731520"/>
          </a:xfrm>
          <a:prstGeom prst="rect">
            <a:avLst/>
          </a:prstGeom>
          <a:noFill/>
        </p:spPr>
        <p:txBody>
          <a:bodyPr wrap="square" lIns="0" rIns="0" tIns="0" bIns="0" anchor="t">
            <a:spAutoFit/>
          </a:bodyPr>
          <a:lstStyle/>
          <a:p>
            <a:pPr algn="ctr">
              <a:lnSpc>
                <a:spcPct val="105000"/>
              </a:lnSpc>
              <a:spcAft>
                <a:spcPts val="400"/>
              </a:spcAft>
            </a:pPr>
            <a:r>
              <a:rPr sz="1400" b="0" i="0">
                <a:solidFill>
                  <a:srgbClr val="2E4057"/>
                </a:solidFill>
                <a:latin typeface="Arial"/>
              </a:rPr>
              <a:t>“find the bottle”, typed or spoken</a:t>
            </a:r>
          </a:p>
        </p:txBody>
      </p:sp>
      <p:cxnSp>
        <p:nvCxnSpPr>
          <p:cNvPr id="115" name="Connector 114"/>
          <p:cNvCxnSpPr/>
          <p:nvPr/>
        </p:nvCxnSpPr>
        <p:spPr>
          <a:xfrm>
            <a:off x="3200400" y="3474720"/>
            <a:ext cx="1737360" cy="0"/>
          </a:xfrm>
          <a:prstGeom prst="line">
            <a:avLst/>
          </a:prstGeom>
          <a:ln w="3810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6" name="Oval 115"/>
          <p:cNvSpPr/>
          <p:nvPr/>
        </p:nvSpPr>
        <p:spPr>
          <a:xfrm>
            <a:off x="5257800" y="3017520"/>
            <a:ext cx="914400" cy="91440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7" name="Picture 116" descr="FaEye.png"/>
          <p:cNvPicPr>
            <a:picLocks noChangeAspect="1"/>
          </p:cNvPicPr>
          <p:nvPr/>
        </p:nvPicPr>
        <p:blipFill>
          <a:blip r:embed="rId5"/>
          <a:stretch>
            <a:fillRect/>
          </a:stretch>
        </p:blipFill>
        <p:spPr>
          <a:xfrm>
            <a:off x="5477256" y="3236976"/>
            <a:ext cx="475488" cy="475488"/>
          </a:xfrm>
          <a:prstGeom prst="rect">
            <a:avLst/>
          </a:prstGeom>
        </p:spPr>
      </p:pic>
      <p:sp>
        <p:nvSpPr>
          <p:cNvPr id="118" name="TextBox 117"/>
          <p:cNvSpPr txBox="1"/>
          <p:nvPr/>
        </p:nvSpPr>
        <p:spPr>
          <a:xfrm>
            <a:off x="4389120" y="4041648"/>
            <a:ext cx="2651760" cy="411480"/>
          </a:xfrm>
          <a:prstGeom prst="rect">
            <a:avLst/>
          </a:prstGeom>
          <a:noFill/>
        </p:spPr>
        <p:txBody>
          <a:bodyPr wrap="square" lIns="0" rIns="0" tIns="0" bIns="0" anchor="t">
            <a:spAutoFit/>
          </a:bodyPr>
          <a:lstStyle/>
          <a:p>
            <a:pPr algn="ctr">
              <a:lnSpc>
                <a:spcPct val="105000"/>
              </a:lnSpc>
              <a:spcAft>
                <a:spcPts val="400"/>
              </a:spcAft>
            </a:pPr>
            <a:r>
              <a:rPr sz="2000" b="1" i="0">
                <a:solidFill>
                  <a:srgbClr val="1D1D1F"/>
                </a:solidFill>
                <a:latin typeface="Arial"/>
              </a:rPr>
              <a:t>See</a:t>
            </a:r>
          </a:p>
        </p:txBody>
      </p:sp>
      <p:sp>
        <p:nvSpPr>
          <p:cNvPr id="119" name="TextBox 118"/>
          <p:cNvSpPr txBox="1"/>
          <p:nvPr/>
        </p:nvSpPr>
        <p:spPr>
          <a:xfrm>
            <a:off x="4389120" y="4480560"/>
            <a:ext cx="2651760" cy="731520"/>
          </a:xfrm>
          <a:prstGeom prst="rect">
            <a:avLst/>
          </a:prstGeom>
          <a:noFill/>
        </p:spPr>
        <p:txBody>
          <a:bodyPr wrap="square" lIns="0" rIns="0" tIns="0" bIns="0" anchor="t">
            <a:spAutoFit/>
          </a:bodyPr>
          <a:lstStyle/>
          <a:p>
            <a:pPr algn="ctr">
              <a:lnSpc>
                <a:spcPct val="105000"/>
              </a:lnSpc>
              <a:spcAft>
                <a:spcPts val="400"/>
              </a:spcAft>
            </a:pPr>
            <a:r>
              <a:rPr sz="1400" b="0" i="0">
                <a:solidFill>
                  <a:srgbClr val="2E4057"/>
                </a:solidFill>
                <a:latin typeface="Arial"/>
              </a:rPr>
              <a:t>YOLO26 on the phone's video</a:t>
            </a:r>
          </a:p>
        </p:txBody>
      </p:sp>
      <p:cxnSp>
        <p:nvCxnSpPr>
          <p:cNvPr id="120" name="Connector 119"/>
          <p:cNvCxnSpPr/>
          <p:nvPr/>
        </p:nvCxnSpPr>
        <p:spPr>
          <a:xfrm>
            <a:off x="6492240" y="3474720"/>
            <a:ext cx="1737360" cy="0"/>
          </a:xfrm>
          <a:prstGeom prst="line">
            <a:avLst/>
          </a:prstGeom>
          <a:ln w="3810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1" name="Oval 120"/>
          <p:cNvSpPr/>
          <p:nvPr/>
        </p:nvSpPr>
        <p:spPr>
          <a:xfrm>
            <a:off x="8549640" y="3017520"/>
            <a:ext cx="914400" cy="91440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2" name="Picture 121" descr="FaBrain.png"/>
          <p:cNvPicPr>
            <a:picLocks noChangeAspect="1"/>
          </p:cNvPicPr>
          <p:nvPr/>
        </p:nvPicPr>
        <p:blipFill>
          <a:blip r:embed="rId6"/>
          <a:stretch>
            <a:fillRect/>
          </a:stretch>
        </p:blipFill>
        <p:spPr>
          <a:xfrm>
            <a:off x="8769096" y="3236976"/>
            <a:ext cx="475488" cy="475488"/>
          </a:xfrm>
          <a:prstGeom prst="rect">
            <a:avLst/>
          </a:prstGeom>
        </p:spPr>
      </p:pic>
      <p:sp>
        <p:nvSpPr>
          <p:cNvPr id="123" name="TextBox 122"/>
          <p:cNvSpPr txBox="1"/>
          <p:nvPr/>
        </p:nvSpPr>
        <p:spPr>
          <a:xfrm>
            <a:off x="7680960" y="4041648"/>
            <a:ext cx="2651760" cy="411480"/>
          </a:xfrm>
          <a:prstGeom prst="rect">
            <a:avLst/>
          </a:prstGeom>
          <a:noFill/>
        </p:spPr>
        <p:txBody>
          <a:bodyPr wrap="square" lIns="0" rIns="0" tIns="0" bIns="0" anchor="t">
            <a:spAutoFit/>
          </a:bodyPr>
          <a:lstStyle/>
          <a:p>
            <a:pPr algn="ctr">
              <a:lnSpc>
                <a:spcPct val="105000"/>
              </a:lnSpc>
              <a:spcAft>
                <a:spcPts val="400"/>
              </a:spcAft>
            </a:pPr>
            <a:r>
              <a:rPr sz="2000" b="1" i="0">
                <a:solidFill>
                  <a:srgbClr val="1D1D1F"/>
                </a:solidFill>
                <a:latin typeface="Arial"/>
              </a:rPr>
              <a:t>Decide</a:t>
            </a:r>
          </a:p>
        </p:txBody>
      </p:sp>
      <p:sp>
        <p:nvSpPr>
          <p:cNvPr id="124" name="TextBox 123"/>
          <p:cNvSpPr txBox="1"/>
          <p:nvPr/>
        </p:nvSpPr>
        <p:spPr>
          <a:xfrm>
            <a:off x="7680960" y="4480560"/>
            <a:ext cx="2651760" cy="731520"/>
          </a:xfrm>
          <a:prstGeom prst="rect">
            <a:avLst/>
          </a:prstGeom>
          <a:noFill/>
        </p:spPr>
        <p:txBody>
          <a:bodyPr wrap="square" lIns="0" rIns="0" tIns="0" bIns="0" anchor="t">
            <a:spAutoFit/>
          </a:bodyPr>
          <a:lstStyle/>
          <a:p>
            <a:pPr algn="ctr">
              <a:lnSpc>
                <a:spcPct val="105000"/>
              </a:lnSpc>
              <a:spcAft>
                <a:spcPts val="400"/>
              </a:spcAft>
            </a:pPr>
            <a:r>
              <a:rPr sz="1400" b="0" i="0">
                <a:solidFill>
                  <a:srgbClr val="2E4057"/>
                </a:solidFill>
                <a:latin typeface="Arial"/>
              </a:rPr>
              <a:t>state machine picks a steering</a:t>
            </a:r>
          </a:p>
        </p:txBody>
      </p:sp>
      <p:cxnSp>
        <p:nvCxnSpPr>
          <p:cNvPr id="125" name="Connector 124"/>
          <p:cNvCxnSpPr/>
          <p:nvPr/>
        </p:nvCxnSpPr>
        <p:spPr>
          <a:xfrm>
            <a:off x="9784080" y="3474720"/>
            <a:ext cx="1737360" cy="0"/>
          </a:xfrm>
          <a:prstGeom prst="line">
            <a:avLst/>
          </a:prstGeom>
          <a:ln w="3810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6" name="Oval 125"/>
          <p:cNvSpPr/>
          <p:nvPr/>
        </p:nvSpPr>
        <p:spPr>
          <a:xfrm>
            <a:off x="11841480" y="3017520"/>
            <a:ext cx="914400" cy="91440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7" name="Picture 126" descr="FaMicrochip.png"/>
          <p:cNvPicPr>
            <a:picLocks noChangeAspect="1"/>
          </p:cNvPicPr>
          <p:nvPr/>
        </p:nvPicPr>
        <p:blipFill>
          <a:blip r:embed="rId7"/>
          <a:stretch>
            <a:fillRect/>
          </a:stretch>
        </p:blipFill>
        <p:spPr>
          <a:xfrm>
            <a:off x="12060936" y="3236976"/>
            <a:ext cx="475488" cy="475488"/>
          </a:xfrm>
          <a:prstGeom prst="rect">
            <a:avLst/>
          </a:prstGeom>
        </p:spPr>
      </p:pic>
      <p:sp>
        <p:nvSpPr>
          <p:cNvPr id="128" name="TextBox 127"/>
          <p:cNvSpPr txBox="1"/>
          <p:nvPr/>
        </p:nvSpPr>
        <p:spPr>
          <a:xfrm>
            <a:off x="10972800" y="4041648"/>
            <a:ext cx="2651760" cy="411480"/>
          </a:xfrm>
          <a:prstGeom prst="rect">
            <a:avLst/>
          </a:prstGeom>
          <a:noFill/>
        </p:spPr>
        <p:txBody>
          <a:bodyPr wrap="square" lIns="0" rIns="0" tIns="0" bIns="0" anchor="t">
            <a:spAutoFit/>
          </a:bodyPr>
          <a:lstStyle/>
          <a:p>
            <a:pPr algn="ctr">
              <a:lnSpc>
                <a:spcPct val="105000"/>
              </a:lnSpc>
              <a:spcAft>
                <a:spcPts val="400"/>
              </a:spcAft>
            </a:pPr>
            <a:r>
              <a:rPr sz="2000" b="1" i="0">
                <a:solidFill>
                  <a:srgbClr val="1D1D1F"/>
                </a:solidFill>
                <a:latin typeface="Arial"/>
              </a:rPr>
              <a:t>Drive</a:t>
            </a:r>
          </a:p>
        </p:txBody>
      </p:sp>
      <p:sp>
        <p:nvSpPr>
          <p:cNvPr id="129" name="TextBox 128"/>
          <p:cNvSpPr txBox="1"/>
          <p:nvPr/>
        </p:nvSpPr>
        <p:spPr>
          <a:xfrm>
            <a:off x="10972800" y="4480560"/>
            <a:ext cx="2651760" cy="731520"/>
          </a:xfrm>
          <a:prstGeom prst="rect">
            <a:avLst/>
          </a:prstGeom>
          <a:noFill/>
        </p:spPr>
        <p:txBody>
          <a:bodyPr wrap="square" lIns="0" rIns="0" tIns="0" bIns="0" anchor="t">
            <a:spAutoFit/>
          </a:bodyPr>
          <a:lstStyle/>
          <a:p>
            <a:pPr algn="ctr">
              <a:lnSpc>
                <a:spcPct val="105000"/>
              </a:lnSpc>
              <a:spcAft>
                <a:spcPts val="400"/>
              </a:spcAft>
            </a:pPr>
            <a:r>
              <a:rPr sz="1400" b="0" i="0">
                <a:solidFill>
                  <a:srgbClr val="2E4057"/>
                </a:solidFill>
                <a:latin typeface="Arial"/>
              </a:rPr>
              <a:t>“L120,R-80” to the Arduino</a:t>
            </a:r>
          </a:p>
        </p:txBody>
      </p:sp>
      <p:cxnSp>
        <p:nvCxnSpPr>
          <p:cNvPr id="130" name="Connector 129"/>
          <p:cNvCxnSpPr/>
          <p:nvPr/>
        </p:nvCxnSpPr>
        <p:spPr>
          <a:xfrm>
            <a:off x="13075920" y="3474720"/>
            <a:ext cx="1737360" cy="0"/>
          </a:xfrm>
          <a:prstGeom prst="line">
            <a:avLst/>
          </a:prstGeom>
          <a:ln w="3810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15133320" y="3017520"/>
            <a:ext cx="914400" cy="91440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2" name="Picture 131" descr="FaCheck.png"/>
          <p:cNvPicPr>
            <a:picLocks noChangeAspect="1"/>
          </p:cNvPicPr>
          <p:nvPr/>
        </p:nvPicPr>
        <p:blipFill>
          <a:blip r:embed="rId8"/>
          <a:stretch>
            <a:fillRect/>
          </a:stretch>
        </p:blipFill>
        <p:spPr>
          <a:xfrm>
            <a:off x="15352776" y="3236976"/>
            <a:ext cx="475488" cy="475488"/>
          </a:xfrm>
          <a:prstGeom prst="rect">
            <a:avLst/>
          </a:prstGeom>
        </p:spPr>
      </p:pic>
      <p:sp>
        <p:nvSpPr>
          <p:cNvPr id="133" name="TextBox 132"/>
          <p:cNvSpPr txBox="1"/>
          <p:nvPr/>
        </p:nvSpPr>
        <p:spPr>
          <a:xfrm>
            <a:off x="14264640" y="4041648"/>
            <a:ext cx="2651760" cy="411480"/>
          </a:xfrm>
          <a:prstGeom prst="rect">
            <a:avLst/>
          </a:prstGeom>
          <a:noFill/>
        </p:spPr>
        <p:txBody>
          <a:bodyPr wrap="square" lIns="0" rIns="0" tIns="0" bIns="0" anchor="t">
            <a:spAutoFit/>
          </a:bodyPr>
          <a:lstStyle/>
          <a:p>
            <a:pPr algn="ctr">
              <a:lnSpc>
                <a:spcPct val="105000"/>
              </a:lnSpc>
              <a:spcAft>
                <a:spcPts val="400"/>
              </a:spcAft>
            </a:pPr>
            <a:r>
              <a:rPr sz="2000" b="1" i="0">
                <a:solidFill>
                  <a:srgbClr val="1D1D1F"/>
                </a:solidFill>
                <a:latin typeface="Arial"/>
              </a:rPr>
              <a:t>Arrive</a:t>
            </a:r>
          </a:p>
        </p:txBody>
      </p:sp>
      <p:sp>
        <p:nvSpPr>
          <p:cNvPr id="134" name="TextBox 133"/>
          <p:cNvSpPr txBox="1"/>
          <p:nvPr/>
        </p:nvSpPr>
        <p:spPr>
          <a:xfrm>
            <a:off x="14264640" y="4480560"/>
            <a:ext cx="2651760" cy="731520"/>
          </a:xfrm>
          <a:prstGeom prst="rect">
            <a:avLst/>
          </a:prstGeom>
          <a:noFill/>
        </p:spPr>
        <p:txBody>
          <a:bodyPr wrap="square" lIns="0" rIns="0" tIns="0" bIns="0" anchor="t">
            <a:spAutoFit/>
          </a:bodyPr>
          <a:lstStyle/>
          <a:p>
            <a:pPr algn="ctr">
              <a:lnSpc>
                <a:spcPct val="105000"/>
              </a:lnSpc>
              <a:spcAft>
                <a:spcPts val="400"/>
              </a:spcAft>
            </a:pPr>
            <a:r>
              <a:rPr sz="1400" b="0" i="0">
                <a:solidFill>
                  <a:srgbClr val="2E4057"/>
                </a:solidFill>
                <a:latin typeface="Arial"/>
              </a:rPr>
              <a:t>stops about 50 cm away</a:t>
            </a:r>
          </a:p>
        </p:txBody>
      </p:sp>
      <p:sp>
        <p:nvSpPr>
          <p:cNvPr id="135" name="TextBox 134"/>
          <p:cNvSpPr txBox="1"/>
          <p:nvPr/>
        </p:nvSpPr>
        <p:spPr>
          <a:xfrm>
            <a:off x="685800" y="5623560"/>
            <a:ext cx="10972800" cy="411480"/>
          </a:xfrm>
          <a:prstGeom prst="rect">
            <a:avLst/>
          </a:prstGeom>
          <a:noFill/>
        </p:spPr>
        <p:txBody>
          <a:bodyPr wrap="square" lIns="0" rIns="0" tIns="0" bIns="0" anchor="t">
            <a:spAutoFit/>
          </a:bodyPr>
          <a:lstStyle/>
          <a:p>
            <a:pPr algn="l">
              <a:lnSpc>
                <a:spcPct val="105000"/>
              </a:lnSpc>
              <a:spcAft>
                <a:spcPts val="400"/>
              </a:spcAft>
            </a:pPr>
            <a:r>
              <a:rPr sz="2000" b="1" i="0">
                <a:solidFill>
                  <a:srgbClr val="1D1D1F"/>
                </a:solidFill>
                <a:latin typeface="Arial"/>
              </a:rPr>
              <a:t>Unique value: compared with today's options</a:t>
            </a:r>
          </a:p>
        </p:txBody>
      </p:sp>
      <p:sp>
        <p:nvSpPr>
          <p:cNvPr id="136" name="Rounded Rectangle 135"/>
          <p:cNvSpPr/>
          <p:nvPr/>
        </p:nvSpPr>
        <p:spPr>
          <a:xfrm>
            <a:off x="8549640" y="6172200"/>
            <a:ext cx="3154680" cy="3611880"/>
          </a:xfrm>
          <a:prstGeom prst="roundRect">
            <a:avLst>
              <a:gd name="adj" fmla="val 6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22960" y="6309360"/>
            <a:ext cx="1920239" cy="365760"/>
          </a:xfrm>
          <a:prstGeom prst="rect">
            <a:avLst/>
          </a:prstGeom>
          <a:noFill/>
        </p:spPr>
        <p:txBody>
          <a:bodyPr wrap="square" lIns="0" rIns="0" tIns="0" bIns="0" anchor="t">
            <a:spAutoFit/>
          </a:bodyPr>
          <a:lstStyle/>
          <a:p>
            <a:pPr algn="l">
              <a:lnSpc>
                <a:spcPct val="105000"/>
              </a:lnSpc>
              <a:spcAft>
                <a:spcPts val="400"/>
              </a:spcAft>
            </a:pPr>
            <a:r>
              <a:rPr sz="1500" b="1" i="0">
                <a:solidFill>
                  <a:srgbClr val="5B616E"/>
                </a:solidFill>
                <a:latin typeface="Arial"/>
              </a:rPr>
              <a:t/>
            </a:r>
          </a:p>
        </p:txBody>
      </p:sp>
      <p:sp>
        <p:nvSpPr>
          <p:cNvPr id="138" name="TextBox 137"/>
          <p:cNvSpPr txBox="1"/>
          <p:nvPr/>
        </p:nvSpPr>
        <p:spPr>
          <a:xfrm>
            <a:off x="3017520" y="6309360"/>
            <a:ext cx="2560320" cy="365760"/>
          </a:xfrm>
          <a:prstGeom prst="rect">
            <a:avLst/>
          </a:prstGeom>
          <a:noFill/>
        </p:spPr>
        <p:txBody>
          <a:bodyPr wrap="square" lIns="0" rIns="0" tIns="0" bIns="0" anchor="t">
            <a:spAutoFit/>
          </a:bodyPr>
          <a:lstStyle/>
          <a:p>
            <a:pPr algn="l">
              <a:lnSpc>
                <a:spcPct val="105000"/>
              </a:lnSpc>
              <a:spcAft>
                <a:spcPts val="400"/>
              </a:spcAft>
            </a:pPr>
            <a:r>
              <a:rPr sz="1500" b="1" i="0">
                <a:solidFill>
                  <a:srgbClr val="5B616E"/>
                </a:solidFill>
                <a:latin typeface="Arial"/>
              </a:rPr>
              <a:t>Line follower</a:t>
            </a:r>
          </a:p>
        </p:txBody>
      </p:sp>
      <p:sp>
        <p:nvSpPr>
          <p:cNvPr id="139" name="TextBox 138"/>
          <p:cNvSpPr txBox="1"/>
          <p:nvPr/>
        </p:nvSpPr>
        <p:spPr>
          <a:xfrm>
            <a:off x="5852160" y="6309360"/>
            <a:ext cx="2560320" cy="365760"/>
          </a:xfrm>
          <a:prstGeom prst="rect">
            <a:avLst/>
          </a:prstGeom>
          <a:noFill/>
        </p:spPr>
        <p:txBody>
          <a:bodyPr wrap="square" lIns="0" rIns="0" tIns="0" bIns="0" anchor="t">
            <a:spAutoFit/>
          </a:bodyPr>
          <a:lstStyle/>
          <a:p>
            <a:pPr algn="l">
              <a:lnSpc>
                <a:spcPct val="105000"/>
              </a:lnSpc>
              <a:spcAft>
                <a:spcPts val="400"/>
              </a:spcAft>
            </a:pPr>
            <a:r>
              <a:rPr sz="1500" b="1" i="0">
                <a:solidFill>
                  <a:srgbClr val="5B616E"/>
                </a:solidFill>
                <a:latin typeface="Arial"/>
              </a:rPr>
              <a:t>Map-based robot</a:t>
            </a:r>
          </a:p>
        </p:txBody>
      </p:sp>
      <p:sp>
        <p:nvSpPr>
          <p:cNvPr id="140" name="TextBox 139"/>
          <p:cNvSpPr txBox="1"/>
          <p:nvPr/>
        </p:nvSpPr>
        <p:spPr>
          <a:xfrm>
            <a:off x="8686800" y="6309360"/>
            <a:ext cx="2971800" cy="365760"/>
          </a:xfrm>
          <a:prstGeom prst="rect">
            <a:avLst/>
          </a:prstGeom>
          <a:noFill/>
        </p:spPr>
        <p:txBody>
          <a:bodyPr wrap="square" lIns="0" rIns="0" tIns="0" bIns="0" anchor="t">
            <a:spAutoFit/>
          </a:bodyPr>
          <a:lstStyle/>
          <a:p>
            <a:pPr algn="l">
              <a:lnSpc>
                <a:spcPct val="105000"/>
              </a:lnSpc>
              <a:spcAft>
                <a:spcPts val="400"/>
              </a:spcAft>
            </a:pPr>
            <a:r>
              <a:rPr sz="1500" b="1" i="0">
                <a:solidFill>
                  <a:srgbClr val="D9622B"/>
                </a:solidFill>
                <a:latin typeface="Arial"/>
              </a:rPr>
              <a:t>SightSeeker</a:t>
            </a:r>
          </a:p>
        </p:txBody>
      </p:sp>
      <p:sp>
        <p:nvSpPr>
          <p:cNvPr id="141" name="TextBox 140"/>
          <p:cNvSpPr txBox="1"/>
          <p:nvPr/>
        </p:nvSpPr>
        <p:spPr>
          <a:xfrm>
            <a:off x="822960" y="6858000"/>
            <a:ext cx="1920239" cy="548640"/>
          </a:xfrm>
          <a:prstGeom prst="rect">
            <a:avLst/>
          </a:prstGeom>
          <a:noFill/>
        </p:spPr>
        <p:txBody>
          <a:bodyPr wrap="square" lIns="0" rIns="0" tIns="0" bIns="0" anchor="t">
            <a:spAutoFit/>
          </a:bodyPr>
          <a:lstStyle/>
          <a:p>
            <a:pPr algn="l">
              <a:lnSpc>
                <a:spcPct val="105000"/>
              </a:lnSpc>
              <a:spcAft>
                <a:spcPts val="400"/>
              </a:spcAft>
            </a:pPr>
            <a:r>
              <a:rPr sz="1500" b="1" i="0">
                <a:solidFill>
                  <a:srgbClr val="1D1D1F"/>
                </a:solidFill>
                <a:latin typeface="Arial"/>
              </a:rPr>
              <a:t>Setup</a:t>
            </a:r>
          </a:p>
        </p:txBody>
      </p:sp>
      <p:sp>
        <p:nvSpPr>
          <p:cNvPr id="142" name="TextBox 141"/>
          <p:cNvSpPr txBox="1"/>
          <p:nvPr/>
        </p:nvSpPr>
        <p:spPr>
          <a:xfrm>
            <a:off x="3017520" y="6858000"/>
            <a:ext cx="2560320" cy="548640"/>
          </a:xfrm>
          <a:prstGeom prst="rect">
            <a:avLst/>
          </a:prstGeom>
          <a:noFill/>
        </p:spPr>
        <p:txBody>
          <a:bodyPr wrap="square" lIns="0" rIns="0" tIns="0" bIns="0" anchor="t">
            <a:spAutoFit/>
          </a:bodyPr>
          <a:lstStyle/>
          <a:p>
            <a:pPr algn="l">
              <a:lnSpc>
                <a:spcPct val="105000"/>
              </a:lnSpc>
              <a:spcAft>
                <a:spcPts val="400"/>
              </a:spcAft>
            </a:pPr>
            <a:r>
              <a:rPr sz="1500" b="0" i="0">
                <a:solidFill>
                  <a:srgbClr val="1D1D1F"/>
                </a:solidFill>
                <a:latin typeface="Arial"/>
              </a:rPr>
              <a:t>tape on the floor</a:t>
            </a:r>
          </a:p>
        </p:txBody>
      </p:sp>
      <p:sp>
        <p:nvSpPr>
          <p:cNvPr id="143" name="TextBox 142"/>
          <p:cNvSpPr txBox="1"/>
          <p:nvPr/>
        </p:nvSpPr>
        <p:spPr>
          <a:xfrm>
            <a:off x="5852160" y="6858000"/>
            <a:ext cx="2560320" cy="548640"/>
          </a:xfrm>
          <a:prstGeom prst="rect">
            <a:avLst/>
          </a:prstGeom>
          <a:noFill/>
        </p:spPr>
        <p:txBody>
          <a:bodyPr wrap="square" lIns="0" rIns="0" tIns="0" bIns="0" anchor="t">
            <a:spAutoFit/>
          </a:bodyPr>
          <a:lstStyle/>
          <a:p>
            <a:pPr algn="l">
              <a:lnSpc>
                <a:spcPct val="105000"/>
              </a:lnSpc>
              <a:spcAft>
                <a:spcPts val="400"/>
              </a:spcAft>
            </a:pPr>
            <a:r>
              <a:rPr sz="1500" b="0" i="0">
                <a:solidFill>
                  <a:srgbClr val="1D1D1F"/>
                </a:solidFill>
                <a:latin typeface="Arial"/>
              </a:rPr>
              <a:t>mapping run</a:t>
            </a:r>
          </a:p>
        </p:txBody>
      </p:sp>
      <p:sp>
        <p:nvSpPr>
          <p:cNvPr id="144" name="TextBox 143"/>
          <p:cNvSpPr txBox="1"/>
          <p:nvPr/>
        </p:nvSpPr>
        <p:spPr>
          <a:xfrm>
            <a:off x="8686800" y="6858000"/>
            <a:ext cx="2971800" cy="548640"/>
          </a:xfrm>
          <a:prstGeom prst="rect">
            <a:avLst/>
          </a:prstGeom>
          <a:noFill/>
        </p:spPr>
        <p:txBody>
          <a:bodyPr wrap="square" lIns="0" rIns="0" tIns="0" bIns="0" anchor="t">
            <a:spAutoFit/>
          </a:bodyPr>
          <a:lstStyle/>
          <a:p>
            <a:pPr algn="l">
              <a:lnSpc>
                <a:spcPct val="105000"/>
              </a:lnSpc>
              <a:spcAft>
                <a:spcPts val="400"/>
              </a:spcAft>
            </a:pPr>
            <a:r>
              <a:rPr sz="1500" b="1" i="0">
                <a:solidFill>
                  <a:srgbClr val="1D1D1F"/>
                </a:solidFill>
                <a:latin typeface="Arial"/>
              </a:rPr>
              <a:t>none: just a camera</a:t>
            </a:r>
          </a:p>
        </p:txBody>
      </p:sp>
      <p:cxnSp>
        <p:nvCxnSpPr>
          <p:cNvPr id="145" name="Connector 144"/>
          <p:cNvCxnSpPr/>
          <p:nvPr/>
        </p:nvCxnSpPr>
        <p:spPr>
          <a:xfrm>
            <a:off x="685800" y="7452360"/>
            <a:ext cx="7772400" cy="0"/>
          </a:xfrm>
          <a:prstGeom prst="line">
            <a:avLst/>
          </a:prstGeom>
          <a:ln>
            <a:solidFill>
              <a:srgbClr val="C9CDD3"/>
            </a:solidFill>
          </a:ln>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822960" y="7589520"/>
            <a:ext cx="1920239" cy="548640"/>
          </a:xfrm>
          <a:prstGeom prst="rect">
            <a:avLst/>
          </a:prstGeom>
          <a:noFill/>
        </p:spPr>
        <p:txBody>
          <a:bodyPr wrap="square" lIns="0" rIns="0" tIns="0" bIns="0" anchor="t">
            <a:spAutoFit/>
          </a:bodyPr>
          <a:lstStyle/>
          <a:p>
            <a:pPr algn="l">
              <a:lnSpc>
                <a:spcPct val="105000"/>
              </a:lnSpc>
              <a:spcAft>
                <a:spcPts val="400"/>
              </a:spcAft>
            </a:pPr>
            <a:r>
              <a:rPr sz="1500" b="1" i="0">
                <a:solidFill>
                  <a:srgbClr val="1D1D1F"/>
                </a:solidFill>
                <a:latin typeface="Arial"/>
              </a:rPr>
              <a:t>New task</a:t>
            </a:r>
          </a:p>
        </p:txBody>
      </p:sp>
      <p:sp>
        <p:nvSpPr>
          <p:cNvPr id="147" name="TextBox 146"/>
          <p:cNvSpPr txBox="1"/>
          <p:nvPr/>
        </p:nvSpPr>
        <p:spPr>
          <a:xfrm>
            <a:off x="3017520" y="7589520"/>
            <a:ext cx="2560320" cy="548640"/>
          </a:xfrm>
          <a:prstGeom prst="rect">
            <a:avLst/>
          </a:prstGeom>
          <a:noFill/>
        </p:spPr>
        <p:txBody>
          <a:bodyPr wrap="square" lIns="0" rIns="0" tIns="0" bIns="0" anchor="t">
            <a:spAutoFit/>
          </a:bodyPr>
          <a:lstStyle/>
          <a:p>
            <a:pPr algn="l">
              <a:lnSpc>
                <a:spcPct val="105000"/>
              </a:lnSpc>
              <a:spcAft>
                <a:spcPts val="400"/>
              </a:spcAft>
            </a:pPr>
            <a:r>
              <a:rPr sz="1500" b="0" i="0">
                <a:solidFill>
                  <a:srgbClr val="1D1D1F"/>
                </a:solidFill>
                <a:latin typeface="Arial"/>
              </a:rPr>
              <a:t>re-lay the tape</a:t>
            </a:r>
          </a:p>
        </p:txBody>
      </p:sp>
      <p:sp>
        <p:nvSpPr>
          <p:cNvPr id="148" name="TextBox 147"/>
          <p:cNvSpPr txBox="1"/>
          <p:nvPr/>
        </p:nvSpPr>
        <p:spPr>
          <a:xfrm>
            <a:off x="5852160" y="7589520"/>
            <a:ext cx="2560320" cy="548640"/>
          </a:xfrm>
          <a:prstGeom prst="rect">
            <a:avLst/>
          </a:prstGeom>
          <a:noFill/>
        </p:spPr>
        <p:txBody>
          <a:bodyPr wrap="square" lIns="0" rIns="0" tIns="0" bIns="0" anchor="t">
            <a:spAutoFit/>
          </a:bodyPr>
          <a:lstStyle/>
          <a:p>
            <a:pPr algn="l">
              <a:lnSpc>
                <a:spcPct val="105000"/>
              </a:lnSpc>
              <a:spcAft>
                <a:spcPts val="400"/>
              </a:spcAft>
            </a:pPr>
            <a:r>
              <a:rPr sz="1500" b="0" i="0">
                <a:solidFill>
                  <a:srgbClr val="1D1D1F"/>
                </a:solidFill>
                <a:latin typeface="Arial"/>
              </a:rPr>
              <a:t>engineer reprograms</a:t>
            </a:r>
          </a:p>
        </p:txBody>
      </p:sp>
      <p:sp>
        <p:nvSpPr>
          <p:cNvPr id="149" name="TextBox 148"/>
          <p:cNvSpPr txBox="1"/>
          <p:nvPr/>
        </p:nvSpPr>
        <p:spPr>
          <a:xfrm>
            <a:off x="8686800" y="7589520"/>
            <a:ext cx="2971800" cy="548640"/>
          </a:xfrm>
          <a:prstGeom prst="rect">
            <a:avLst/>
          </a:prstGeom>
          <a:noFill/>
        </p:spPr>
        <p:txBody>
          <a:bodyPr wrap="square" lIns="0" rIns="0" tIns="0" bIns="0" anchor="t">
            <a:spAutoFit/>
          </a:bodyPr>
          <a:lstStyle/>
          <a:p>
            <a:pPr algn="l">
              <a:lnSpc>
                <a:spcPct val="105000"/>
              </a:lnSpc>
              <a:spcAft>
                <a:spcPts val="400"/>
              </a:spcAft>
            </a:pPr>
            <a:r>
              <a:rPr sz="1500" b="1" i="0">
                <a:solidFill>
                  <a:srgbClr val="1D1D1F"/>
                </a:solidFill>
                <a:latin typeface="Arial"/>
              </a:rPr>
              <a:t>say it in English</a:t>
            </a:r>
          </a:p>
        </p:txBody>
      </p:sp>
      <p:cxnSp>
        <p:nvCxnSpPr>
          <p:cNvPr id="150" name="Connector 149"/>
          <p:cNvCxnSpPr/>
          <p:nvPr/>
        </p:nvCxnSpPr>
        <p:spPr>
          <a:xfrm>
            <a:off x="685800" y="8183879"/>
            <a:ext cx="7772400" cy="0"/>
          </a:xfrm>
          <a:prstGeom prst="line">
            <a:avLst/>
          </a:prstGeom>
          <a:ln>
            <a:solidFill>
              <a:srgbClr val="C9CDD3"/>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822960" y="8321040"/>
            <a:ext cx="1920239" cy="548640"/>
          </a:xfrm>
          <a:prstGeom prst="rect">
            <a:avLst/>
          </a:prstGeom>
          <a:noFill/>
        </p:spPr>
        <p:txBody>
          <a:bodyPr wrap="square" lIns="0" rIns="0" tIns="0" bIns="0" anchor="t">
            <a:spAutoFit/>
          </a:bodyPr>
          <a:lstStyle/>
          <a:p>
            <a:pPr algn="l">
              <a:lnSpc>
                <a:spcPct val="105000"/>
              </a:lnSpc>
              <a:spcAft>
                <a:spcPts val="400"/>
              </a:spcAft>
            </a:pPr>
            <a:r>
              <a:rPr sz="1500" b="1" i="0">
                <a:solidFill>
                  <a:srgbClr val="1D1D1F"/>
                </a:solidFill>
                <a:latin typeface="Arial"/>
              </a:rPr>
              <a:t>Moved objects</a:t>
            </a:r>
          </a:p>
        </p:txBody>
      </p:sp>
      <p:sp>
        <p:nvSpPr>
          <p:cNvPr id="152" name="TextBox 151"/>
          <p:cNvSpPr txBox="1"/>
          <p:nvPr/>
        </p:nvSpPr>
        <p:spPr>
          <a:xfrm>
            <a:off x="3017520" y="8321040"/>
            <a:ext cx="2560320" cy="548640"/>
          </a:xfrm>
          <a:prstGeom prst="rect">
            <a:avLst/>
          </a:prstGeom>
          <a:noFill/>
        </p:spPr>
        <p:txBody>
          <a:bodyPr wrap="square" lIns="0" rIns="0" tIns="0" bIns="0" anchor="t">
            <a:spAutoFit/>
          </a:bodyPr>
          <a:lstStyle/>
          <a:p>
            <a:pPr algn="l">
              <a:lnSpc>
                <a:spcPct val="105000"/>
              </a:lnSpc>
              <a:spcAft>
                <a:spcPts val="400"/>
              </a:spcAft>
            </a:pPr>
            <a:r>
              <a:rPr sz="1500" b="0" i="0">
                <a:solidFill>
                  <a:srgbClr val="C62828"/>
                </a:solidFill>
                <a:latin typeface="Arial"/>
              </a:rPr>
              <a:t>✕ stops</a:t>
            </a:r>
          </a:p>
        </p:txBody>
      </p:sp>
      <p:sp>
        <p:nvSpPr>
          <p:cNvPr id="153" name="TextBox 152"/>
          <p:cNvSpPr txBox="1"/>
          <p:nvPr/>
        </p:nvSpPr>
        <p:spPr>
          <a:xfrm>
            <a:off x="5852160" y="8321040"/>
            <a:ext cx="2560320" cy="548640"/>
          </a:xfrm>
          <a:prstGeom prst="rect">
            <a:avLst/>
          </a:prstGeom>
          <a:noFill/>
        </p:spPr>
        <p:txBody>
          <a:bodyPr wrap="square" lIns="0" rIns="0" tIns="0" bIns="0" anchor="t">
            <a:spAutoFit/>
          </a:bodyPr>
          <a:lstStyle/>
          <a:p>
            <a:pPr algn="l">
              <a:lnSpc>
                <a:spcPct val="105000"/>
              </a:lnSpc>
              <a:spcAft>
                <a:spcPts val="400"/>
              </a:spcAft>
            </a:pPr>
            <a:r>
              <a:rPr sz="1500" b="0" i="0">
                <a:solidFill>
                  <a:srgbClr val="1D1D1F"/>
                </a:solidFill>
                <a:latin typeface="Arial"/>
              </a:rPr>
              <a:t>re-map needed</a:t>
            </a:r>
          </a:p>
        </p:txBody>
      </p:sp>
      <p:sp>
        <p:nvSpPr>
          <p:cNvPr id="154" name="TextBox 153"/>
          <p:cNvSpPr txBox="1"/>
          <p:nvPr/>
        </p:nvSpPr>
        <p:spPr>
          <a:xfrm>
            <a:off x="8686800" y="8321040"/>
            <a:ext cx="2971800" cy="548640"/>
          </a:xfrm>
          <a:prstGeom prst="rect">
            <a:avLst/>
          </a:prstGeom>
          <a:noFill/>
        </p:spPr>
        <p:txBody>
          <a:bodyPr wrap="square" lIns="0" rIns="0" tIns="0" bIns="0" anchor="t">
            <a:spAutoFit/>
          </a:bodyPr>
          <a:lstStyle/>
          <a:p>
            <a:pPr algn="l">
              <a:lnSpc>
                <a:spcPct val="105000"/>
              </a:lnSpc>
              <a:spcAft>
                <a:spcPts val="400"/>
              </a:spcAft>
            </a:pPr>
            <a:r>
              <a:rPr sz="1500" b="1" i="0">
                <a:solidFill>
                  <a:srgbClr val="1E8E5A"/>
                </a:solidFill>
                <a:latin typeface="Arial"/>
              </a:rPr>
              <a:t>✓ sees and avoids</a:t>
            </a:r>
          </a:p>
        </p:txBody>
      </p:sp>
      <p:cxnSp>
        <p:nvCxnSpPr>
          <p:cNvPr id="155" name="Connector 154"/>
          <p:cNvCxnSpPr/>
          <p:nvPr/>
        </p:nvCxnSpPr>
        <p:spPr>
          <a:xfrm>
            <a:off x="685800" y="8915400"/>
            <a:ext cx="7772400" cy="0"/>
          </a:xfrm>
          <a:prstGeom prst="line">
            <a:avLst/>
          </a:prstGeom>
          <a:ln>
            <a:solidFill>
              <a:srgbClr val="C9CDD3"/>
            </a:solidFill>
          </a:ln>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822960" y="9052560"/>
            <a:ext cx="1920239" cy="548640"/>
          </a:xfrm>
          <a:prstGeom prst="rect">
            <a:avLst/>
          </a:prstGeom>
          <a:noFill/>
        </p:spPr>
        <p:txBody>
          <a:bodyPr wrap="square" lIns="0" rIns="0" tIns="0" bIns="0" anchor="t">
            <a:spAutoFit/>
          </a:bodyPr>
          <a:lstStyle/>
          <a:p>
            <a:pPr algn="l">
              <a:lnSpc>
                <a:spcPct val="105000"/>
              </a:lnSpc>
              <a:spcAft>
                <a:spcPts val="400"/>
              </a:spcAft>
            </a:pPr>
            <a:r>
              <a:rPr sz="1500" b="1" i="0">
                <a:solidFill>
                  <a:srgbClr val="1D1D1F"/>
                </a:solidFill>
                <a:latin typeface="Arial"/>
              </a:rPr>
              <a:t>Cost</a:t>
            </a:r>
          </a:p>
        </p:txBody>
      </p:sp>
      <p:sp>
        <p:nvSpPr>
          <p:cNvPr id="157" name="TextBox 156"/>
          <p:cNvSpPr txBox="1"/>
          <p:nvPr/>
        </p:nvSpPr>
        <p:spPr>
          <a:xfrm>
            <a:off x="3017520" y="9052560"/>
            <a:ext cx="2560320" cy="548640"/>
          </a:xfrm>
          <a:prstGeom prst="rect">
            <a:avLst/>
          </a:prstGeom>
          <a:noFill/>
        </p:spPr>
        <p:txBody>
          <a:bodyPr wrap="square" lIns="0" rIns="0" tIns="0" bIns="0" anchor="t">
            <a:spAutoFit/>
          </a:bodyPr>
          <a:lstStyle/>
          <a:p>
            <a:pPr algn="l">
              <a:lnSpc>
                <a:spcPct val="105000"/>
              </a:lnSpc>
              <a:spcAft>
                <a:spcPts val="400"/>
              </a:spcAft>
            </a:pPr>
            <a:r>
              <a:rPr sz="1500" b="0" i="0">
                <a:solidFill>
                  <a:srgbClr val="1D1D1F"/>
                </a:solidFill>
                <a:latin typeface="Arial"/>
              </a:rPr>
              <a:t>low</a:t>
            </a:r>
          </a:p>
        </p:txBody>
      </p:sp>
      <p:sp>
        <p:nvSpPr>
          <p:cNvPr id="158" name="TextBox 157"/>
          <p:cNvSpPr txBox="1"/>
          <p:nvPr/>
        </p:nvSpPr>
        <p:spPr>
          <a:xfrm>
            <a:off x="5852160" y="9052560"/>
            <a:ext cx="2560320" cy="548640"/>
          </a:xfrm>
          <a:prstGeom prst="rect">
            <a:avLst/>
          </a:prstGeom>
          <a:noFill/>
        </p:spPr>
        <p:txBody>
          <a:bodyPr wrap="square" lIns="0" rIns="0" tIns="0" bIns="0" anchor="t">
            <a:spAutoFit/>
          </a:bodyPr>
          <a:lstStyle/>
          <a:p>
            <a:pPr algn="l">
              <a:lnSpc>
                <a:spcPct val="105000"/>
              </a:lnSpc>
              <a:spcAft>
                <a:spcPts val="400"/>
              </a:spcAft>
            </a:pPr>
            <a:r>
              <a:rPr sz="1500" b="0" i="0">
                <a:solidFill>
                  <a:srgbClr val="1D1D1F"/>
                </a:solidFill>
                <a:latin typeface="Arial"/>
              </a:rPr>
              <a:t>lakhs</a:t>
            </a:r>
          </a:p>
        </p:txBody>
      </p:sp>
      <p:sp>
        <p:nvSpPr>
          <p:cNvPr id="159" name="TextBox 158"/>
          <p:cNvSpPr txBox="1"/>
          <p:nvPr/>
        </p:nvSpPr>
        <p:spPr>
          <a:xfrm>
            <a:off x="8686800" y="9052560"/>
            <a:ext cx="2971800" cy="548640"/>
          </a:xfrm>
          <a:prstGeom prst="rect">
            <a:avLst/>
          </a:prstGeom>
          <a:noFill/>
        </p:spPr>
        <p:txBody>
          <a:bodyPr wrap="square" lIns="0" rIns="0" tIns="0" bIns="0" anchor="t">
            <a:spAutoFit/>
          </a:bodyPr>
          <a:lstStyle/>
          <a:p>
            <a:pPr algn="l">
              <a:lnSpc>
                <a:spcPct val="105000"/>
              </a:lnSpc>
              <a:spcAft>
                <a:spcPts val="400"/>
              </a:spcAft>
            </a:pPr>
            <a:r>
              <a:rPr sz="1500" b="1" i="0">
                <a:solidFill>
                  <a:srgbClr val="1D1D1F"/>
                </a:solidFill>
                <a:latin typeface="Arial"/>
              </a:rPr>
              <a:t>≈ ₹1,500 + laptop</a:t>
            </a:r>
          </a:p>
        </p:txBody>
      </p:sp>
      <p:sp>
        <p:nvSpPr>
          <p:cNvPr id="160" name="Rounded Rectangle 159"/>
          <p:cNvSpPr/>
          <p:nvPr/>
        </p:nvSpPr>
        <p:spPr>
          <a:xfrm>
            <a:off x="12024360" y="5623560"/>
            <a:ext cx="5577840" cy="41605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2344400" y="5852160"/>
            <a:ext cx="5029200" cy="411480"/>
          </a:xfrm>
          <a:prstGeom prst="rect">
            <a:avLst/>
          </a:prstGeom>
          <a:noFill/>
        </p:spPr>
        <p:txBody>
          <a:bodyPr wrap="square" lIns="0" rIns="0" tIns="0" bIns="0" anchor="t">
            <a:spAutoFit/>
          </a:bodyPr>
          <a:lstStyle/>
          <a:p>
            <a:pPr algn="l">
              <a:lnSpc>
                <a:spcPct val="105000"/>
              </a:lnSpc>
              <a:spcAft>
                <a:spcPts val="400"/>
              </a:spcAft>
            </a:pPr>
            <a:r>
              <a:rPr sz="2000" b="1" i="0">
                <a:solidFill>
                  <a:srgbClr val="1D1D1F"/>
                </a:solidFill>
                <a:latin typeface="Arial"/>
              </a:rPr>
              <a:t>Key features</a:t>
            </a:r>
          </a:p>
        </p:txBody>
      </p:sp>
      <p:sp>
        <p:nvSpPr>
          <p:cNvPr id="162" name="Oval 161"/>
          <p:cNvSpPr/>
          <p:nvPr/>
        </p:nvSpPr>
        <p:spPr>
          <a:xfrm>
            <a:off x="12344400" y="6492240"/>
            <a:ext cx="548640" cy="54864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3" name="Picture 162" descr="FaLanguage.png"/>
          <p:cNvPicPr>
            <a:picLocks noChangeAspect="1"/>
          </p:cNvPicPr>
          <p:nvPr/>
        </p:nvPicPr>
        <p:blipFill>
          <a:blip r:embed="rId9"/>
          <a:stretch>
            <a:fillRect/>
          </a:stretch>
        </p:blipFill>
        <p:spPr>
          <a:xfrm>
            <a:off x="12476073" y="6623913"/>
            <a:ext cx="285292" cy="285292"/>
          </a:xfrm>
          <a:prstGeom prst="rect">
            <a:avLst/>
          </a:prstGeom>
        </p:spPr>
      </p:pic>
      <p:sp>
        <p:nvSpPr>
          <p:cNvPr id="164" name="TextBox 163"/>
          <p:cNvSpPr txBox="1"/>
          <p:nvPr/>
        </p:nvSpPr>
        <p:spPr>
          <a:xfrm>
            <a:off x="13075920" y="6611112"/>
            <a:ext cx="4389120" cy="4114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Plain-English and voice goals</a:t>
            </a:r>
          </a:p>
        </p:txBody>
      </p:sp>
      <p:sp>
        <p:nvSpPr>
          <p:cNvPr id="165" name="Oval 164"/>
          <p:cNvSpPr/>
          <p:nvPr/>
        </p:nvSpPr>
        <p:spPr>
          <a:xfrm>
            <a:off x="12344400" y="7269479"/>
            <a:ext cx="548640" cy="54864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6" name="Picture 165" descr="FaUsers.png"/>
          <p:cNvPicPr>
            <a:picLocks noChangeAspect="1"/>
          </p:cNvPicPr>
          <p:nvPr/>
        </p:nvPicPr>
        <p:blipFill>
          <a:blip r:embed="rId10"/>
          <a:stretch>
            <a:fillRect/>
          </a:stretch>
        </p:blipFill>
        <p:spPr>
          <a:xfrm>
            <a:off x="12476073" y="7401153"/>
            <a:ext cx="285292" cy="285292"/>
          </a:xfrm>
          <a:prstGeom prst="rect">
            <a:avLst/>
          </a:prstGeom>
        </p:spPr>
      </p:pic>
      <p:sp>
        <p:nvSpPr>
          <p:cNvPr id="167" name="TextBox 166"/>
          <p:cNvSpPr txBox="1"/>
          <p:nvPr/>
        </p:nvSpPr>
        <p:spPr>
          <a:xfrm>
            <a:off x="13075920" y="7388352"/>
            <a:ext cx="4389120" cy="4114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Walk mode: guides a person by voice</a:t>
            </a:r>
          </a:p>
        </p:txBody>
      </p:sp>
      <p:sp>
        <p:nvSpPr>
          <p:cNvPr id="168" name="Oval 167"/>
          <p:cNvSpPr/>
          <p:nvPr/>
        </p:nvSpPr>
        <p:spPr>
          <a:xfrm>
            <a:off x="12344400" y="8046719"/>
            <a:ext cx="548640" cy="54864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9" name="Picture 168" descr="FaCube.png"/>
          <p:cNvPicPr>
            <a:picLocks noChangeAspect="1"/>
          </p:cNvPicPr>
          <p:nvPr/>
        </p:nvPicPr>
        <p:blipFill>
          <a:blip r:embed="rId11"/>
          <a:stretch>
            <a:fillRect/>
          </a:stretch>
        </p:blipFill>
        <p:spPr>
          <a:xfrm>
            <a:off x="12476073" y="8178393"/>
            <a:ext cx="285292" cy="285292"/>
          </a:xfrm>
          <a:prstGeom prst="rect">
            <a:avLst/>
          </a:prstGeom>
        </p:spPr>
      </p:pic>
      <p:sp>
        <p:nvSpPr>
          <p:cNvPr id="170" name="TextBox 169"/>
          <p:cNvSpPr txBox="1"/>
          <p:nvPr/>
        </p:nvSpPr>
        <p:spPr>
          <a:xfrm>
            <a:off x="13075920" y="8165592"/>
            <a:ext cx="4389120" cy="4114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Digital twin and 3D rover twin</a:t>
            </a:r>
          </a:p>
        </p:txBody>
      </p:sp>
      <p:sp>
        <p:nvSpPr>
          <p:cNvPr id="171" name="Oval 170"/>
          <p:cNvSpPr/>
          <p:nvPr/>
        </p:nvSpPr>
        <p:spPr>
          <a:xfrm>
            <a:off x="12344400" y="8823959"/>
            <a:ext cx="548640" cy="54864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2" name="Picture 171" descr="FaShieldAlt.png"/>
          <p:cNvPicPr>
            <a:picLocks noChangeAspect="1"/>
          </p:cNvPicPr>
          <p:nvPr/>
        </p:nvPicPr>
        <p:blipFill>
          <a:blip r:embed="rId12"/>
          <a:stretch>
            <a:fillRect/>
          </a:stretch>
        </p:blipFill>
        <p:spPr>
          <a:xfrm>
            <a:off x="12476073" y="8955633"/>
            <a:ext cx="285292" cy="285292"/>
          </a:xfrm>
          <a:prstGeom prst="rect">
            <a:avLst/>
          </a:prstGeom>
        </p:spPr>
      </p:pic>
      <p:sp>
        <p:nvSpPr>
          <p:cNvPr id="173" name="TextBox 172"/>
          <p:cNvSpPr txBox="1"/>
          <p:nvPr/>
        </p:nvSpPr>
        <p:spPr>
          <a:xfrm>
            <a:off x="13075920" y="8942832"/>
            <a:ext cx="4389120" cy="4114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3 safety layers on the Arduino</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43" name="Google Shape;143;p19"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44" name="TextBox 143"/>
          <p:cNvSpPr txBox="1"/>
          <p:nvPr/>
        </p:nvSpPr>
        <p:spPr>
          <a:xfrm>
            <a:off x="685800" y="1417320"/>
            <a:ext cx="16916400" cy="685800"/>
          </a:xfrm>
          <a:prstGeom prst="rect">
            <a:avLst/>
          </a:prstGeom>
          <a:noFill/>
        </p:spPr>
        <p:txBody>
          <a:bodyPr wrap="square" lIns="0" rIns="0" tIns="0" bIns="0" anchor="t">
            <a:spAutoFit/>
          </a:bodyPr>
          <a:lstStyle/>
          <a:p>
            <a:pPr algn="l">
              <a:lnSpc>
                <a:spcPct val="105000"/>
              </a:lnSpc>
              <a:spcAft>
                <a:spcPts val="400"/>
              </a:spcAft>
            </a:pPr>
            <a:r>
              <a:rPr sz="3400" b="1" i="0">
                <a:solidFill>
                  <a:srgbClr val="1D1D1F"/>
                </a:solidFill>
                <a:latin typeface="Arial"/>
              </a:rPr>
              <a:t>PROTOTYPE: HOW IT WORKS</a:t>
            </a:r>
          </a:p>
        </p:txBody>
      </p:sp>
      <p:sp>
        <p:nvSpPr>
          <p:cNvPr id="145" name="TextBox 144"/>
          <p:cNvSpPr txBox="1"/>
          <p:nvPr/>
        </p:nvSpPr>
        <p:spPr>
          <a:xfrm>
            <a:off x="685800" y="2103120"/>
            <a:ext cx="16916400" cy="457200"/>
          </a:xfrm>
          <a:prstGeom prst="rect">
            <a:avLst/>
          </a:prstGeom>
          <a:noFill/>
        </p:spPr>
        <p:txBody>
          <a:bodyPr wrap="square" lIns="0" rIns="0" tIns="0" bIns="0" anchor="t">
            <a:spAutoFit/>
          </a:bodyPr>
          <a:lstStyle/>
          <a:p>
            <a:pPr algn="l">
              <a:lnSpc>
                <a:spcPct val="105000"/>
              </a:lnSpc>
              <a:spcAft>
                <a:spcPts val="400"/>
              </a:spcAft>
            </a:pPr>
            <a:r>
              <a:rPr sz="1800" b="0" i="0">
                <a:solidFill>
                  <a:srgbClr val="5B616E"/>
                </a:solidFill>
                <a:latin typeface="Arial"/>
              </a:rPr>
              <a:t>A real run on my laptop: YOLO26 on the GPU, 28 frames per second, webcam as the robot's eye</a:t>
            </a:r>
          </a:p>
        </p:txBody>
      </p:sp>
      <p:pic>
        <p:nvPicPr>
          <p:cNvPr id="146" name="Picture 145" descr="cam_main.png"/>
          <p:cNvPicPr>
            <a:picLocks noChangeAspect="1"/>
          </p:cNvPicPr>
          <p:nvPr/>
        </p:nvPicPr>
        <p:blipFill>
          <a:blip r:embed="rId2"/>
          <a:stretch>
            <a:fillRect/>
          </a:stretch>
        </p:blipFill>
        <p:spPr>
          <a:xfrm>
            <a:off x="685800" y="2697480"/>
            <a:ext cx="8503920" cy="4777483"/>
          </a:xfrm>
          <a:prstGeom prst="rect">
            <a:avLst/>
          </a:prstGeom>
          <a:ln w="12700">
            <a:solidFill>
              <a:srgbClr val="C9CDD3"/>
            </a:solidFill>
          </a:ln>
        </p:spPr>
      </p:pic>
      <p:sp>
        <p:nvSpPr>
          <p:cNvPr id="147" name="Oval 146"/>
          <p:cNvSpPr/>
          <p:nvPr/>
        </p:nvSpPr>
        <p:spPr>
          <a:xfrm>
            <a:off x="711999" y="2851078"/>
            <a:ext cx="502920" cy="50292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1</a:t>
            </a:r>
          </a:p>
        </p:txBody>
      </p:sp>
      <p:sp>
        <p:nvSpPr>
          <p:cNvPr id="148" name="Oval 147"/>
          <p:cNvSpPr/>
          <p:nvPr/>
        </p:nvSpPr>
        <p:spPr>
          <a:xfrm>
            <a:off x="3451089" y="4762071"/>
            <a:ext cx="502920" cy="50292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2</a:t>
            </a:r>
          </a:p>
        </p:txBody>
      </p:sp>
      <p:sp>
        <p:nvSpPr>
          <p:cNvPr id="149" name="Oval 148"/>
          <p:cNvSpPr/>
          <p:nvPr/>
        </p:nvSpPr>
        <p:spPr>
          <a:xfrm>
            <a:off x="7973773" y="4188773"/>
            <a:ext cx="502920" cy="50292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3</a:t>
            </a:r>
          </a:p>
        </p:txBody>
      </p:sp>
      <p:sp>
        <p:nvSpPr>
          <p:cNvPr id="150" name="Oval 149"/>
          <p:cNvSpPr/>
          <p:nvPr/>
        </p:nvSpPr>
        <p:spPr>
          <a:xfrm>
            <a:off x="4533985" y="6545665"/>
            <a:ext cx="502920" cy="50292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4</a:t>
            </a:r>
          </a:p>
        </p:txBody>
      </p:sp>
      <p:pic>
        <p:nvPicPr>
          <p:cNvPr id="151" name="Picture 150" descr="cam_panel.png"/>
          <p:cNvPicPr>
            <a:picLocks noChangeAspect="1"/>
          </p:cNvPicPr>
          <p:nvPr/>
        </p:nvPicPr>
        <p:blipFill>
          <a:blip r:embed="rId4"/>
          <a:stretch>
            <a:fillRect/>
          </a:stretch>
        </p:blipFill>
        <p:spPr>
          <a:xfrm>
            <a:off x="9235440" y="2697480"/>
            <a:ext cx="2643540" cy="4777483"/>
          </a:xfrm>
          <a:prstGeom prst="rect">
            <a:avLst/>
          </a:prstGeom>
          <a:ln w="12700">
            <a:solidFill>
              <a:srgbClr val="C9CDD3"/>
            </a:solidFill>
          </a:ln>
        </p:spPr>
      </p:pic>
      <p:sp>
        <p:nvSpPr>
          <p:cNvPr id="152" name="Oval 151"/>
          <p:cNvSpPr/>
          <p:nvPr/>
        </p:nvSpPr>
        <p:spPr>
          <a:xfrm>
            <a:off x="8961120" y="4074936"/>
            <a:ext cx="502920" cy="50292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5</a:t>
            </a:r>
          </a:p>
        </p:txBody>
      </p:sp>
      <p:sp>
        <p:nvSpPr>
          <p:cNvPr id="153" name="Oval 152"/>
          <p:cNvSpPr/>
          <p:nvPr/>
        </p:nvSpPr>
        <p:spPr>
          <a:xfrm>
            <a:off x="12244740" y="2697480"/>
            <a:ext cx="457200" cy="45720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1</a:t>
            </a:r>
          </a:p>
        </p:txBody>
      </p:sp>
      <p:sp>
        <p:nvSpPr>
          <p:cNvPr id="154" name="TextBox 153"/>
          <p:cNvSpPr txBox="1"/>
          <p:nvPr/>
        </p:nvSpPr>
        <p:spPr>
          <a:xfrm>
            <a:off x="12839100" y="2679192"/>
            <a:ext cx="4763099" cy="82296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Hears the goal</a:t>
            </a:r>
          </a:p>
          <a:p>
            <a:pPr algn="l">
              <a:lnSpc>
                <a:spcPct val="105000"/>
              </a:lnSpc>
              <a:spcAft>
                <a:spcPts val="100"/>
              </a:spcAft>
            </a:pPr>
            <a:r>
              <a:rPr sz="1400" b="0" i="0">
                <a:solidFill>
                  <a:srgbClr val="2E4057"/>
                </a:solidFill>
                <a:latin typeface="Arial"/>
              </a:rPr>
              <a:t>“find bottle” → class bottle</a:t>
            </a:r>
          </a:p>
        </p:txBody>
      </p:sp>
      <p:sp>
        <p:nvSpPr>
          <p:cNvPr id="155" name="Oval 154"/>
          <p:cNvSpPr/>
          <p:nvPr/>
        </p:nvSpPr>
        <p:spPr>
          <a:xfrm>
            <a:off x="12244740" y="3593592"/>
            <a:ext cx="457200" cy="45720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2</a:t>
            </a:r>
          </a:p>
        </p:txBody>
      </p:sp>
      <p:sp>
        <p:nvSpPr>
          <p:cNvPr id="156" name="TextBox 155"/>
          <p:cNvSpPr txBox="1"/>
          <p:nvPr/>
        </p:nvSpPr>
        <p:spPr>
          <a:xfrm>
            <a:off x="12839100" y="3575304"/>
            <a:ext cx="4763099" cy="82296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Person in the path</a:t>
            </a:r>
          </a:p>
          <a:p>
            <a:pPr algn="l">
              <a:lnSpc>
                <a:spcPct val="105000"/>
              </a:lnSpc>
              <a:spcAft>
                <a:spcPts val="100"/>
              </a:spcAft>
            </a:pPr>
            <a:r>
              <a:rPr sz="1400" b="0" i="0">
                <a:solidFill>
                  <a:srgbClr val="2E4057"/>
                </a:solidFill>
                <a:latin typeface="Arial"/>
              </a:rPr>
              <a:t>marked as an obstacle</a:t>
            </a:r>
          </a:p>
        </p:txBody>
      </p:sp>
      <p:sp>
        <p:nvSpPr>
          <p:cNvPr id="157" name="Oval 156"/>
          <p:cNvSpPr/>
          <p:nvPr/>
        </p:nvSpPr>
        <p:spPr>
          <a:xfrm>
            <a:off x="12244740" y="4489704"/>
            <a:ext cx="457200" cy="45720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3</a:t>
            </a:r>
          </a:p>
        </p:txBody>
      </p:sp>
      <p:sp>
        <p:nvSpPr>
          <p:cNvPr id="158" name="TextBox 157"/>
          <p:cNvSpPr txBox="1"/>
          <p:nvPr/>
        </p:nvSpPr>
        <p:spPr>
          <a:xfrm>
            <a:off x="12839100" y="4471416"/>
            <a:ext cx="4763099" cy="82296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Target locked</a:t>
            </a:r>
          </a:p>
          <a:p>
            <a:pPr algn="l">
              <a:lnSpc>
                <a:spcPct val="105000"/>
              </a:lnSpc>
              <a:spcAft>
                <a:spcPts val="100"/>
              </a:spcAft>
            </a:pPr>
            <a:r>
              <a:rPr sz="1400" b="0" i="0">
                <a:solidFill>
                  <a:srgbClr val="2E4057"/>
                </a:solidFill>
                <a:latin typeface="Arial"/>
              </a:rPr>
              <a:t>bottle, 67% confidence</a:t>
            </a:r>
          </a:p>
        </p:txBody>
      </p:sp>
      <p:sp>
        <p:nvSpPr>
          <p:cNvPr id="159" name="Oval 158"/>
          <p:cNvSpPr/>
          <p:nvPr/>
        </p:nvSpPr>
        <p:spPr>
          <a:xfrm>
            <a:off x="12244740" y="5385816"/>
            <a:ext cx="457200" cy="45720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4</a:t>
            </a:r>
          </a:p>
        </p:txBody>
      </p:sp>
      <p:sp>
        <p:nvSpPr>
          <p:cNvPr id="160" name="TextBox 159"/>
          <p:cNvSpPr txBox="1"/>
          <p:nvPr/>
        </p:nvSpPr>
        <p:spPr>
          <a:xfrm>
            <a:off x="12839100" y="5367528"/>
            <a:ext cx="4763099" cy="82296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Steering line</a:t>
            </a:r>
          </a:p>
          <a:p>
            <a:pPr algn="l">
              <a:lnSpc>
                <a:spcPct val="105000"/>
              </a:lnSpc>
              <a:spcAft>
                <a:spcPts val="100"/>
              </a:spcAft>
            </a:pPr>
            <a:r>
              <a:rPr sz="1400" b="0" i="0">
                <a:solidFill>
                  <a:srgbClr val="2E4057"/>
                </a:solidFill>
                <a:latin typeface="Arial"/>
              </a:rPr>
              <a:t>heading to the bottle</a:t>
            </a:r>
          </a:p>
        </p:txBody>
      </p:sp>
      <p:sp>
        <p:nvSpPr>
          <p:cNvPr id="161" name="Oval 160"/>
          <p:cNvSpPr/>
          <p:nvPr/>
        </p:nvSpPr>
        <p:spPr>
          <a:xfrm>
            <a:off x="12244740" y="6281928"/>
            <a:ext cx="457200" cy="45720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5</a:t>
            </a:r>
          </a:p>
        </p:txBody>
      </p:sp>
      <p:sp>
        <p:nvSpPr>
          <p:cNvPr id="162" name="TextBox 161"/>
          <p:cNvSpPr txBox="1"/>
          <p:nvPr/>
        </p:nvSpPr>
        <p:spPr>
          <a:xfrm>
            <a:off x="12839100" y="6263640"/>
            <a:ext cx="4763099" cy="82296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Wheel commands</a:t>
            </a:r>
          </a:p>
          <a:p>
            <a:pPr algn="l">
              <a:lnSpc>
                <a:spcPct val="105000"/>
              </a:lnSpc>
              <a:spcAft>
                <a:spcPts val="100"/>
              </a:spcAft>
            </a:pPr>
            <a:r>
              <a:rPr sz="1400" b="0" i="0">
                <a:solidFill>
                  <a:srgbClr val="2E4057"/>
                </a:solidFill>
                <a:latin typeface="Arial"/>
              </a:rPr>
              <a:t>left +151, right −80: turn right</a:t>
            </a:r>
          </a:p>
        </p:txBody>
      </p:sp>
      <p:sp>
        <p:nvSpPr>
          <p:cNvPr id="163" name="TextBox 162"/>
          <p:cNvSpPr txBox="1"/>
          <p:nvPr/>
        </p:nvSpPr>
        <p:spPr>
          <a:xfrm>
            <a:off x="685800" y="7795003"/>
            <a:ext cx="8229600" cy="365760"/>
          </a:xfrm>
          <a:prstGeom prst="rect">
            <a:avLst/>
          </a:prstGeom>
          <a:noFill/>
        </p:spPr>
        <p:txBody>
          <a:bodyPr wrap="square" lIns="0" rIns="0" tIns="0" bIns="0" anchor="t">
            <a:spAutoFit/>
          </a:bodyPr>
          <a:lstStyle/>
          <a:p>
            <a:pPr algn="l">
              <a:lnSpc>
                <a:spcPct val="105000"/>
              </a:lnSpc>
              <a:spcAft>
                <a:spcPts val="400"/>
              </a:spcAft>
            </a:pPr>
            <a:r>
              <a:rPr sz="1700" b="1" i="0">
                <a:solidFill>
                  <a:srgbClr val="1D1D1F"/>
                </a:solidFill>
                <a:latin typeface="Arial"/>
              </a:rPr>
              <a:t>The same run, start to finish</a:t>
            </a:r>
          </a:p>
        </p:txBody>
      </p:sp>
      <p:pic>
        <p:nvPicPr>
          <p:cNvPr id="164" name="Picture 163" descr="cam_t1.png"/>
          <p:cNvPicPr>
            <a:picLocks noChangeAspect="1"/>
          </p:cNvPicPr>
          <p:nvPr/>
        </p:nvPicPr>
        <p:blipFill>
          <a:blip r:embed="rId5"/>
          <a:stretch>
            <a:fillRect/>
          </a:stretch>
        </p:blipFill>
        <p:spPr>
          <a:xfrm>
            <a:off x="685800" y="8252203"/>
            <a:ext cx="3291840" cy="1244476"/>
          </a:xfrm>
          <a:prstGeom prst="rect">
            <a:avLst/>
          </a:prstGeom>
          <a:ln w="12700">
            <a:solidFill>
              <a:srgbClr val="C9CDD3"/>
            </a:solidFill>
          </a:ln>
        </p:spPr>
      </p:pic>
      <p:sp>
        <p:nvSpPr>
          <p:cNvPr id="165" name="TextBox 164"/>
          <p:cNvSpPr txBox="1"/>
          <p:nvPr/>
        </p:nvSpPr>
        <p:spPr>
          <a:xfrm>
            <a:off x="685800" y="9569831"/>
            <a:ext cx="342900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2E4057"/>
                </a:solidFill>
                <a:latin typeface="Arial"/>
              </a:rPr>
              <a:t>1  Waiting for a goal</a:t>
            </a:r>
          </a:p>
        </p:txBody>
      </p:sp>
      <p:cxnSp>
        <p:nvCxnSpPr>
          <p:cNvPr id="166" name="Connector 165"/>
          <p:cNvCxnSpPr/>
          <p:nvPr/>
        </p:nvCxnSpPr>
        <p:spPr>
          <a:xfrm>
            <a:off x="4005072" y="8846563"/>
            <a:ext cx="310896" cy="0"/>
          </a:xfrm>
          <a:prstGeom prst="line">
            <a:avLst/>
          </a:prstGeom>
          <a:ln w="3175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67" name="Picture 166" descr="cam_t2.png"/>
          <p:cNvPicPr>
            <a:picLocks noChangeAspect="1"/>
          </p:cNvPicPr>
          <p:nvPr/>
        </p:nvPicPr>
        <p:blipFill>
          <a:blip r:embed="rId6"/>
          <a:stretch>
            <a:fillRect/>
          </a:stretch>
        </p:blipFill>
        <p:spPr>
          <a:xfrm>
            <a:off x="4343400" y="8252203"/>
            <a:ext cx="3291840" cy="1244476"/>
          </a:xfrm>
          <a:prstGeom prst="rect">
            <a:avLst/>
          </a:prstGeom>
          <a:ln w="12700">
            <a:solidFill>
              <a:srgbClr val="C9CDD3"/>
            </a:solidFill>
          </a:ln>
        </p:spPr>
      </p:pic>
      <p:sp>
        <p:nvSpPr>
          <p:cNvPr id="168" name="TextBox 167"/>
          <p:cNvSpPr txBox="1"/>
          <p:nvPr/>
        </p:nvSpPr>
        <p:spPr>
          <a:xfrm>
            <a:off x="4343400" y="9569831"/>
            <a:ext cx="342900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2E4057"/>
                </a:solidFill>
                <a:latin typeface="Arial"/>
              </a:rPr>
              <a:t>2  Avoiding the person</a:t>
            </a:r>
          </a:p>
        </p:txBody>
      </p:sp>
      <p:cxnSp>
        <p:nvCxnSpPr>
          <p:cNvPr id="169" name="Connector 168"/>
          <p:cNvCxnSpPr/>
          <p:nvPr/>
        </p:nvCxnSpPr>
        <p:spPr>
          <a:xfrm>
            <a:off x="7662671" y="8846563"/>
            <a:ext cx="310897" cy="0"/>
          </a:xfrm>
          <a:prstGeom prst="line">
            <a:avLst/>
          </a:prstGeom>
          <a:ln w="3175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70" name="Picture 169" descr="cam_t3.png"/>
          <p:cNvPicPr>
            <a:picLocks noChangeAspect="1"/>
          </p:cNvPicPr>
          <p:nvPr/>
        </p:nvPicPr>
        <p:blipFill>
          <a:blip r:embed="rId7"/>
          <a:stretch>
            <a:fillRect/>
          </a:stretch>
        </p:blipFill>
        <p:spPr>
          <a:xfrm>
            <a:off x="8001000" y="8252203"/>
            <a:ext cx="3291840" cy="1244476"/>
          </a:xfrm>
          <a:prstGeom prst="rect">
            <a:avLst/>
          </a:prstGeom>
          <a:ln w="12700">
            <a:solidFill>
              <a:srgbClr val="C9CDD3"/>
            </a:solidFill>
          </a:ln>
        </p:spPr>
      </p:pic>
      <p:sp>
        <p:nvSpPr>
          <p:cNvPr id="171" name="TextBox 170"/>
          <p:cNvSpPr txBox="1"/>
          <p:nvPr/>
        </p:nvSpPr>
        <p:spPr>
          <a:xfrm>
            <a:off x="8001000" y="9569831"/>
            <a:ext cx="342900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2E4057"/>
                </a:solidFill>
                <a:latin typeface="Arial"/>
              </a:rPr>
              <a:t>3  Goal reached in 8.6 s, 51 cm away</a:t>
            </a:r>
          </a:p>
        </p:txBody>
      </p:sp>
      <p:sp>
        <p:nvSpPr>
          <p:cNvPr id="172" name="TextBox 171"/>
          <p:cNvSpPr txBox="1"/>
          <p:nvPr/>
        </p:nvSpPr>
        <p:spPr>
          <a:xfrm>
            <a:off x="11978640" y="7795003"/>
            <a:ext cx="5486400" cy="365760"/>
          </a:xfrm>
          <a:prstGeom prst="rect">
            <a:avLst/>
          </a:prstGeom>
          <a:noFill/>
        </p:spPr>
        <p:txBody>
          <a:bodyPr wrap="square" lIns="0" rIns="0" tIns="0" bIns="0" anchor="t">
            <a:spAutoFit/>
          </a:bodyPr>
          <a:lstStyle/>
          <a:p>
            <a:pPr algn="l">
              <a:lnSpc>
                <a:spcPct val="105000"/>
              </a:lnSpc>
              <a:spcAft>
                <a:spcPts val="400"/>
              </a:spcAft>
            </a:pPr>
            <a:r>
              <a:rPr sz="1700" b="1" i="0">
                <a:solidFill>
                  <a:srgbClr val="1D1D1F"/>
                </a:solidFill>
                <a:latin typeface="Arial"/>
              </a:rPr>
              <a:t>Decision loop (state machine)</a:t>
            </a:r>
          </a:p>
        </p:txBody>
      </p:sp>
      <p:sp>
        <p:nvSpPr>
          <p:cNvPr id="173" name="Rounded Rectangle 172"/>
          <p:cNvSpPr/>
          <p:nvPr/>
        </p:nvSpPr>
        <p:spPr>
          <a:xfrm>
            <a:off x="11978640" y="8297923"/>
            <a:ext cx="2377440" cy="502920"/>
          </a:xfrm>
          <a:prstGeom prst="roundRect">
            <a:avLst>
              <a:gd name="adj" fmla="val 50000"/>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300" b="1">
                <a:solidFill>
                  <a:srgbClr val="FFFFFF"/>
                </a:solidFill>
                <a:latin typeface="Arial"/>
              </a:rPr>
              <a:t>SEARCHING</a:t>
            </a:r>
          </a:p>
        </p:txBody>
      </p:sp>
      <p:sp>
        <p:nvSpPr>
          <p:cNvPr id="174" name="Rounded Rectangle 173"/>
          <p:cNvSpPr/>
          <p:nvPr/>
        </p:nvSpPr>
        <p:spPr>
          <a:xfrm>
            <a:off x="15041880" y="8297923"/>
            <a:ext cx="2377440" cy="502920"/>
          </a:xfrm>
          <a:prstGeom prst="roundRect">
            <a:avLst>
              <a:gd name="adj" fmla="val 50000"/>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300" b="1">
                <a:solidFill>
                  <a:srgbClr val="FFFFFF"/>
                </a:solidFill>
                <a:latin typeface="Arial"/>
              </a:rPr>
              <a:t>NAVIGATING</a:t>
            </a:r>
          </a:p>
        </p:txBody>
      </p:sp>
      <p:sp>
        <p:nvSpPr>
          <p:cNvPr id="175" name="Rounded Rectangle 174"/>
          <p:cNvSpPr/>
          <p:nvPr/>
        </p:nvSpPr>
        <p:spPr>
          <a:xfrm>
            <a:off x="15041880" y="9258043"/>
            <a:ext cx="2377440" cy="502920"/>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300" b="1">
                <a:solidFill>
                  <a:srgbClr val="FFFFFF"/>
                </a:solidFill>
                <a:latin typeface="Arial"/>
              </a:rPr>
              <a:t>AVOIDING</a:t>
            </a:r>
          </a:p>
        </p:txBody>
      </p:sp>
      <p:sp>
        <p:nvSpPr>
          <p:cNvPr id="176" name="Rounded Rectangle 175"/>
          <p:cNvSpPr/>
          <p:nvPr/>
        </p:nvSpPr>
        <p:spPr>
          <a:xfrm>
            <a:off x="11978640" y="9258043"/>
            <a:ext cx="2377440" cy="502920"/>
          </a:xfrm>
          <a:prstGeom prst="roundRect">
            <a:avLst>
              <a:gd name="adj" fmla="val 50000"/>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300" b="1">
                <a:solidFill>
                  <a:srgbClr val="FFFFFF"/>
                </a:solidFill>
                <a:latin typeface="Arial"/>
              </a:rPr>
              <a:t>GOAL REACHED</a:t>
            </a:r>
          </a:p>
        </p:txBody>
      </p:sp>
      <p:cxnSp>
        <p:nvCxnSpPr>
          <p:cNvPr id="177" name="Connector 176"/>
          <p:cNvCxnSpPr/>
          <p:nvPr/>
        </p:nvCxnSpPr>
        <p:spPr>
          <a:xfrm>
            <a:off x="14374367" y="8544811"/>
            <a:ext cx="649225" cy="0"/>
          </a:xfrm>
          <a:prstGeom prst="line">
            <a:avLst/>
          </a:prstGeom>
          <a:ln w="25400">
            <a:solidFill>
              <a:srgbClr val="1D1D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16230600" y="8819131"/>
            <a:ext cx="0" cy="420624"/>
          </a:xfrm>
          <a:prstGeom prst="line">
            <a:avLst/>
          </a:prstGeom>
          <a:ln w="25400">
            <a:solidFill>
              <a:srgbClr val="1D1D1F"/>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H="1">
            <a:off x="14374367" y="8691115"/>
            <a:ext cx="649225" cy="658368"/>
          </a:xfrm>
          <a:prstGeom prst="line">
            <a:avLst/>
          </a:prstGeom>
          <a:ln w="25400">
            <a:solidFill>
              <a:srgbClr val="1D1D1F"/>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6" name="Google Shape;116;p16"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17" name="TextBox 116"/>
          <p:cNvSpPr txBox="1"/>
          <p:nvPr/>
        </p:nvSpPr>
        <p:spPr>
          <a:xfrm>
            <a:off x="685800" y="1417320"/>
            <a:ext cx="16916400" cy="685800"/>
          </a:xfrm>
          <a:prstGeom prst="rect">
            <a:avLst/>
          </a:prstGeom>
          <a:noFill/>
        </p:spPr>
        <p:txBody>
          <a:bodyPr wrap="square" lIns="0" rIns="0" tIns="0" bIns="0" anchor="t">
            <a:spAutoFit/>
          </a:bodyPr>
          <a:lstStyle/>
          <a:p>
            <a:pPr algn="l">
              <a:lnSpc>
                <a:spcPct val="105000"/>
              </a:lnSpc>
              <a:spcAft>
                <a:spcPts val="400"/>
              </a:spcAft>
            </a:pPr>
            <a:r>
              <a:rPr sz="3400" b="1" i="0">
                <a:solidFill>
                  <a:srgbClr val="1D1D1F"/>
                </a:solidFill>
                <a:latin typeface="Arial"/>
              </a:rPr>
              <a:t>ARCHITECTURE</a:t>
            </a:r>
          </a:p>
        </p:txBody>
      </p:sp>
      <p:sp>
        <p:nvSpPr>
          <p:cNvPr id="118" name="TextBox 117"/>
          <p:cNvSpPr txBox="1"/>
          <p:nvPr/>
        </p:nvSpPr>
        <p:spPr>
          <a:xfrm>
            <a:off x="685800" y="2103120"/>
            <a:ext cx="16916400" cy="457200"/>
          </a:xfrm>
          <a:prstGeom prst="rect">
            <a:avLst/>
          </a:prstGeom>
          <a:noFill/>
        </p:spPr>
        <p:txBody>
          <a:bodyPr wrap="square" lIns="0" rIns="0" tIns="0" bIns="0" anchor="t">
            <a:spAutoFit/>
          </a:bodyPr>
          <a:lstStyle/>
          <a:p>
            <a:pPr algn="l">
              <a:lnSpc>
                <a:spcPct val="105000"/>
              </a:lnSpc>
              <a:spcAft>
                <a:spcPts val="400"/>
              </a:spcAft>
            </a:pPr>
            <a:r>
              <a:rPr sz="1800" b="0" i="0">
                <a:solidFill>
                  <a:srgbClr val="5B616E"/>
                </a:solidFill>
                <a:latin typeface="Arial"/>
              </a:rPr>
              <a:t>The phone sees, the laptop thinks, the rover acts. One short text line connects them.</a:t>
            </a:r>
          </a:p>
        </p:txBody>
      </p:sp>
      <p:sp>
        <p:nvSpPr>
          <p:cNvPr id="119" name="Rounded Rectangle 118"/>
          <p:cNvSpPr/>
          <p:nvPr/>
        </p:nvSpPr>
        <p:spPr>
          <a:xfrm>
            <a:off x="685800" y="2743200"/>
            <a:ext cx="3291840" cy="42062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ounded Rectangle 119"/>
          <p:cNvSpPr/>
          <p:nvPr/>
        </p:nvSpPr>
        <p:spPr>
          <a:xfrm>
            <a:off x="4800600" y="2743200"/>
            <a:ext cx="6309360" cy="4206240"/>
          </a:xfrm>
          <a:prstGeom prst="roundRect">
            <a:avLst>
              <a:gd name="adj" fmla="val 6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120"/>
          <p:cNvSpPr/>
          <p:nvPr/>
        </p:nvSpPr>
        <p:spPr>
          <a:xfrm>
            <a:off x="11932920" y="2743200"/>
            <a:ext cx="5669280" cy="42062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14400" y="2926080"/>
            <a:ext cx="2926080" cy="365760"/>
          </a:xfrm>
          <a:prstGeom prst="rect">
            <a:avLst/>
          </a:prstGeom>
          <a:noFill/>
        </p:spPr>
        <p:txBody>
          <a:bodyPr wrap="square" lIns="0" rIns="0" tIns="0" bIns="0" anchor="t">
            <a:spAutoFit/>
          </a:bodyPr>
          <a:lstStyle/>
          <a:p>
            <a:pPr algn="l">
              <a:lnSpc>
                <a:spcPct val="105000"/>
              </a:lnSpc>
              <a:spcAft>
                <a:spcPts val="400"/>
              </a:spcAft>
            </a:pPr>
            <a:r>
              <a:rPr sz="1500" b="1" i="0">
                <a:solidFill>
                  <a:srgbClr val="5B616E"/>
                </a:solidFill>
                <a:latin typeface="Arial"/>
              </a:rPr>
              <a:t>PHONE  ·  the eye</a:t>
            </a:r>
          </a:p>
        </p:txBody>
      </p:sp>
      <p:sp>
        <p:nvSpPr>
          <p:cNvPr id="123" name="TextBox 122"/>
          <p:cNvSpPr txBox="1"/>
          <p:nvPr/>
        </p:nvSpPr>
        <p:spPr>
          <a:xfrm>
            <a:off x="5029200" y="2926080"/>
            <a:ext cx="5943600" cy="365760"/>
          </a:xfrm>
          <a:prstGeom prst="rect">
            <a:avLst/>
          </a:prstGeom>
          <a:noFill/>
        </p:spPr>
        <p:txBody>
          <a:bodyPr wrap="square" lIns="0" rIns="0" tIns="0" bIns="0" anchor="t">
            <a:spAutoFit/>
          </a:bodyPr>
          <a:lstStyle/>
          <a:p>
            <a:pPr algn="l">
              <a:lnSpc>
                <a:spcPct val="105000"/>
              </a:lnSpc>
              <a:spcAft>
                <a:spcPts val="400"/>
              </a:spcAft>
            </a:pPr>
            <a:r>
              <a:rPr sz="1500" b="1" i="0">
                <a:solidFill>
                  <a:srgbClr val="D9622B"/>
                </a:solidFill>
                <a:latin typeface="Arial"/>
              </a:rPr>
              <a:t>LAPTOP  ·  Vision Brain (Python)</a:t>
            </a:r>
          </a:p>
        </p:txBody>
      </p:sp>
      <p:sp>
        <p:nvSpPr>
          <p:cNvPr id="124" name="TextBox 123"/>
          <p:cNvSpPr txBox="1"/>
          <p:nvPr/>
        </p:nvSpPr>
        <p:spPr>
          <a:xfrm>
            <a:off x="12161520" y="2926080"/>
            <a:ext cx="5303520" cy="365760"/>
          </a:xfrm>
          <a:prstGeom prst="rect">
            <a:avLst/>
          </a:prstGeom>
          <a:noFill/>
        </p:spPr>
        <p:txBody>
          <a:bodyPr wrap="square" lIns="0" rIns="0" tIns="0" bIns="0" anchor="t">
            <a:spAutoFit/>
          </a:bodyPr>
          <a:lstStyle/>
          <a:p>
            <a:pPr algn="l">
              <a:lnSpc>
                <a:spcPct val="105000"/>
              </a:lnSpc>
              <a:spcAft>
                <a:spcPts val="400"/>
              </a:spcAft>
            </a:pPr>
            <a:r>
              <a:rPr sz="1500" b="1" i="0">
                <a:solidFill>
                  <a:srgbClr val="5B616E"/>
                </a:solidFill>
                <a:latin typeface="Arial"/>
              </a:rPr>
              <a:t>ROVER  ·  Arduino Uno (C++)</a:t>
            </a:r>
          </a:p>
        </p:txBody>
      </p:sp>
      <p:sp>
        <p:nvSpPr>
          <p:cNvPr id="125" name="Oval 124"/>
          <p:cNvSpPr/>
          <p:nvPr/>
        </p:nvSpPr>
        <p:spPr>
          <a:xfrm>
            <a:off x="1783080" y="3840480"/>
            <a:ext cx="1097280" cy="1097280"/>
          </a:xfrm>
          <a:prstGeom prst="ellipse">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6" name="Picture 125" descr="FaMobileAlt.png"/>
          <p:cNvPicPr>
            <a:picLocks noChangeAspect="1"/>
          </p:cNvPicPr>
          <p:nvPr/>
        </p:nvPicPr>
        <p:blipFill>
          <a:blip r:embed="rId4"/>
          <a:stretch>
            <a:fillRect/>
          </a:stretch>
        </p:blipFill>
        <p:spPr>
          <a:xfrm>
            <a:off x="2046427" y="4103827"/>
            <a:ext cx="570585" cy="570585"/>
          </a:xfrm>
          <a:prstGeom prst="rect">
            <a:avLst/>
          </a:prstGeom>
        </p:spPr>
      </p:pic>
      <p:sp>
        <p:nvSpPr>
          <p:cNvPr id="127" name="TextBox 126"/>
          <p:cNvSpPr txBox="1"/>
          <p:nvPr/>
        </p:nvSpPr>
        <p:spPr>
          <a:xfrm>
            <a:off x="914400" y="5166360"/>
            <a:ext cx="2834640" cy="1097280"/>
          </a:xfrm>
          <a:prstGeom prst="rect">
            <a:avLst/>
          </a:prstGeom>
          <a:noFill/>
        </p:spPr>
        <p:txBody>
          <a:bodyPr wrap="square" lIns="0" rIns="0" tIns="0" bIns="0" anchor="t">
            <a:spAutoFit/>
          </a:bodyPr>
          <a:lstStyle/>
          <a:p>
            <a:pPr algn="ctr">
              <a:lnSpc>
                <a:spcPct val="105000"/>
              </a:lnSpc>
              <a:spcAft>
                <a:spcPts val="400"/>
              </a:spcAft>
            </a:pPr>
            <a:r>
              <a:rPr sz="1500" b="1" i="0">
                <a:solidFill>
                  <a:srgbClr val="1D1D1F"/>
                </a:solidFill>
                <a:latin typeface="Arial"/>
              </a:rPr>
              <a:t>IP Webcam / DroidCam</a:t>
            </a:r>
          </a:p>
          <a:p>
            <a:pPr algn="ctr">
              <a:lnSpc>
                <a:spcPct val="105000"/>
              </a:lnSpc>
              <a:spcAft>
                <a:spcPts val="400"/>
              </a:spcAft>
            </a:pPr>
            <a:r>
              <a:rPr sz="1500" b="0" i="0">
                <a:solidFill>
                  <a:srgbClr val="1D1D1F"/>
                </a:solidFill>
                <a:latin typeface="Arial"/>
              </a:rPr>
              <a:t>720p video</a:t>
            </a:r>
          </a:p>
        </p:txBody>
      </p:sp>
      <p:sp>
        <p:nvSpPr>
          <p:cNvPr id="128" name="Rounded Rectangle 127"/>
          <p:cNvSpPr/>
          <p:nvPr/>
        </p:nvSpPr>
        <p:spPr>
          <a:xfrm>
            <a:off x="5166360" y="3520440"/>
            <a:ext cx="5577840" cy="86868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394960" y="3630168"/>
            <a:ext cx="2194560" cy="640080"/>
          </a:xfrm>
          <a:prstGeom prst="rect">
            <a:avLst/>
          </a:prstGeom>
          <a:noFill/>
        </p:spPr>
        <p:txBody>
          <a:bodyPr wrap="square" lIns="0" rIns="0" tIns="0" bIns="0" anchor="ctr">
            <a:spAutoFit/>
          </a:bodyPr>
          <a:lstStyle/>
          <a:p>
            <a:pPr algn="l">
              <a:lnSpc>
                <a:spcPct val="105000"/>
              </a:lnSpc>
              <a:spcAft>
                <a:spcPts val="400"/>
              </a:spcAft>
            </a:pPr>
            <a:r>
              <a:rPr sz="1600" b="1" i="0">
                <a:solidFill>
                  <a:srgbClr val="1D1D1F"/>
                </a:solidFill>
                <a:latin typeface="Arial"/>
              </a:rPr>
              <a:t>YOLO26</a:t>
            </a:r>
          </a:p>
        </p:txBody>
      </p:sp>
      <p:sp>
        <p:nvSpPr>
          <p:cNvPr id="130" name="TextBox 129"/>
          <p:cNvSpPr txBox="1"/>
          <p:nvPr/>
        </p:nvSpPr>
        <p:spPr>
          <a:xfrm>
            <a:off x="7589520" y="3630168"/>
            <a:ext cx="3063240" cy="640080"/>
          </a:xfrm>
          <a:prstGeom prst="rect">
            <a:avLst/>
          </a:prstGeom>
          <a:noFill/>
        </p:spPr>
        <p:txBody>
          <a:bodyPr wrap="square" lIns="0" rIns="0" tIns="0" bIns="0" anchor="ctr">
            <a:spAutoFit/>
          </a:bodyPr>
          <a:lstStyle/>
          <a:p>
            <a:pPr algn="l">
              <a:lnSpc>
                <a:spcPct val="105000"/>
              </a:lnSpc>
              <a:spcAft>
                <a:spcPts val="400"/>
              </a:spcAft>
            </a:pPr>
            <a:r>
              <a:rPr sz="1400" b="0" i="0">
                <a:solidFill>
                  <a:srgbClr val="2E4057"/>
                </a:solidFill>
                <a:latin typeface="Arial"/>
              </a:rPr>
              <a:t>finds objects + boxes</a:t>
            </a:r>
          </a:p>
        </p:txBody>
      </p:sp>
      <p:cxnSp>
        <p:nvCxnSpPr>
          <p:cNvPr id="131" name="Connector 130"/>
          <p:cNvCxnSpPr/>
          <p:nvPr/>
        </p:nvCxnSpPr>
        <p:spPr>
          <a:xfrm>
            <a:off x="7955279" y="4407408"/>
            <a:ext cx="0" cy="210312"/>
          </a:xfrm>
          <a:prstGeom prst="line">
            <a:avLst/>
          </a:prstGeom>
          <a:ln w="2540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2" name="Rounded Rectangle 131"/>
          <p:cNvSpPr/>
          <p:nvPr/>
        </p:nvSpPr>
        <p:spPr>
          <a:xfrm>
            <a:off x="5166360" y="4636008"/>
            <a:ext cx="5577840" cy="86868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5394960" y="4745736"/>
            <a:ext cx="2194560" cy="640080"/>
          </a:xfrm>
          <a:prstGeom prst="rect">
            <a:avLst/>
          </a:prstGeom>
          <a:noFill/>
        </p:spPr>
        <p:txBody>
          <a:bodyPr wrap="square" lIns="0" rIns="0" tIns="0" bIns="0" anchor="ctr">
            <a:spAutoFit/>
          </a:bodyPr>
          <a:lstStyle/>
          <a:p>
            <a:pPr algn="l">
              <a:lnSpc>
                <a:spcPct val="105000"/>
              </a:lnSpc>
              <a:spcAft>
                <a:spcPts val="400"/>
              </a:spcAft>
            </a:pPr>
            <a:r>
              <a:rPr sz="1600" b="1" i="0">
                <a:solidFill>
                  <a:srgbClr val="1D1D1F"/>
                </a:solidFill>
                <a:latin typeface="Arial"/>
              </a:rPr>
              <a:t>State machine</a:t>
            </a:r>
          </a:p>
        </p:txBody>
      </p:sp>
      <p:sp>
        <p:nvSpPr>
          <p:cNvPr id="134" name="TextBox 133"/>
          <p:cNvSpPr txBox="1"/>
          <p:nvPr/>
        </p:nvSpPr>
        <p:spPr>
          <a:xfrm>
            <a:off x="7589520" y="4745736"/>
            <a:ext cx="3063240" cy="640080"/>
          </a:xfrm>
          <a:prstGeom prst="rect">
            <a:avLst/>
          </a:prstGeom>
          <a:noFill/>
        </p:spPr>
        <p:txBody>
          <a:bodyPr wrap="square" lIns="0" rIns="0" tIns="0" bIns="0" anchor="ctr">
            <a:spAutoFit/>
          </a:bodyPr>
          <a:lstStyle/>
          <a:p>
            <a:pPr algn="l">
              <a:lnSpc>
                <a:spcPct val="105000"/>
              </a:lnSpc>
              <a:spcAft>
                <a:spcPts val="400"/>
              </a:spcAft>
            </a:pPr>
            <a:r>
              <a:rPr sz="1400" b="0" i="0">
                <a:solidFill>
                  <a:srgbClr val="2E4057"/>
                </a:solidFill>
                <a:latin typeface="Arial"/>
              </a:rPr>
              <a:t>search / go / avoid / stop</a:t>
            </a:r>
          </a:p>
        </p:txBody>
      </p:sp>
      <p:cxnSp>
        <p:nvCxnSpPr>
          <p:cNvPr id="135" name="Connector 134"/>
          <p:cNvCxnSpPr/>
          <p:nvPr/>
        </p:nvCxnSpPr>
        <p:spPr>
          <a:xfrm>
            <a:off x="7955279" y="5522976"/>
            <a:ext cx="0" cy="210312"/>
          </a:xfrm>
          <a:prstGeom prst="line">
            <a:avLst/>
          </a:prstGeom>
          <a:ln w="2540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 name="Rounded Rectangle 135"/>
          <p:cNvSpPr/>
          <p:nvPr/>
        </p:nvSpPr>
        <p:spPr>
          <a:xfrm>
            <a:off x="5166360" y="5751576"/>
            <a:ext cx="5577840" cy="86868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394960" y="5861304"/>
            <a:ext cx="2194560" cy="640080"/>
          </a:xfrm>
          <a:prstGeom prst="rect">
            <a:avLst/>
          </a:prstGeom>
          <a:noFill/>
        </p:spPr>
        <p:txBody>
          <a:bodyPr wrap="square" lIns="0" rIns="0" tIns="0" bIns="0" anchor="ctr">
            <a:spAutoFit/>
          </a:bodyPr>
          <a:lstStyle/>
          <a:p>
            <a:pPr algn="l">
              <a:lnSpc>
                <a:spcPct val="105000"/>
              </a:lnSpc>
              <a:spcAft>
                <a:spcPts val="400"/>
              </a:spcAft>
            </a:pPr>
            <a:r>
              <a:rPr sz="1600" b="1" i="0">
                <a:solidFill>
                  <a:srgbClr val="1D1D1F"/>
                </a:solidFill>
                <a:latin typeface="Arial"/>
              </a:rPr>
              <a:t>Steering</a:t>
            </a:r>
          </a:p>
        </p:txBody>
      </p:sp>
      <p:sp>
        <p:nvSpPr>
          <p:cNvPr id="138" name="TextBox 137"/>
          <p:cNvSpPr txBox="1"/>
          <p:nvPr/>
        </p:nvSpPr>
        <p:spPr>
          <a:xfrm>
            <a:off x="7589520" y="5861304"/>
            <a:ext cx="3063240" cy="640080"/>
          </a:xfrm>
          <a:prstGeom prst="rect">
            <a:avLst/>
          </a:prstGeom>
          <a:noFill/>
        </p:spPr>
        <p:txBody>
          <a:bodyPr wrap="square" lIns="0" rIns="0" tIns="0" bIns="0" anchor="ctr">
            <a:spAutoFit/>
          </a:bodyPr>
          <a:lstStyle/>
          <a:p>
            <a:pPr algn="l">
              <a:lnSpc>
                <a:spcPct val="105000"/>
              </a:lnSpc>
              <a:spcAft>
                <a:spcPts val="400"/>
              </a:spcAft>
            </a:pPr>
            <a:r>
              <a:rPr sz="1400" b="0" i="0">
                <a:solidFill>
                  <a:srgbClr val="2E4057"/>
                </a:solidFill>
                <a:latin typeface="Arial"/>
              </a:rPr>
              <a:t>smooth wheel speeds</a:t>
            </a:r>
          </a:p>
        </p:txBody>
      </p:sp>
      <p:sp>
        <p:nvSpPr>
          <p:cNvPr id="139" name="Rounded Rectangle 138"/>
          <p:cNvSpPr/>
          <p:nvPr/>
        </p:nvSpPr>
        <p:spPr>
          <a:xfrm>
            <a:off x="12252960" y="3520440"/>
            <a:ext cx="3108960" cy="86868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600" b="1">
                <a:solidFill>
                  <a:srgbClr val="1D1D1F"/>
                </a:solidFill>
                <a:latin typeface="Arial"/>
              </a:rPr>
              <a:t>Parser + watchdog</a:t>
            </a:r>
          </a:p>
        </p:txBody>
      </p:sp>
      <p:cxnSp>
        <p:nvCxnSpPr>
          <p:cNvPr id="140" name="Connector 139"/>
          <p:cNvCxnSpPr/>
          <p:nvPr/>
        </p:nvCxnSpPr>
        <p:spPr>
          <a:xfrm>
            <a:off x="13807440" y="4407408"/>
            <a:ext cx="0" cy="210312"/>
          </a:xfrm>
          <a:prstGeom prst="line">
            <a:avLst/>
          </a:prstGeom>
          <a:ln w="2540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1" name="Rounded Rectangle 140"/>
          <p:cNvSpPr/>
          <p:nvPr/>
        </p:nvSpPr>
        <p:spPr>
          <a:xfrm>
            <a:off x="12252960" y="4663440"/>
            <a:ext cx="3108960" cy="86868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600" b="1">
                <a:solidFill>
                  <a:srgbClr val="1D1D1F"/>
                </a:solidFill>
                <a:latin typeface="Arial"/>
              </a:rPr>
              <a:t>L298N driver</a:t>
            </a:r>
          </a:p>
        </p:txBody>
      </p:sp>
      <p:cxnSp>
        <p:nvCxnSpPr>
          <p:cNvPr id="142" name="Connector 141"/>
          <p:cNvCxnSpPr/>
          <p:nvPr/>
        </p:nvCxnSpPr>
        <p:spPr>
          <a:xfrm>
            <a:off x="13807440" y="5550407"/>
            <a:ext cx="0" cy="210313"/>
          </a:xfrm>
          <a:prstGeom prst="line">
            <a:avLst/>
          </a:prstGeom>
          <a:ln w="2540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3" name="Rounded Rectangle 142"/>
          <p:cNvSpPr/>
          <p:nvPr/>
        </p:nvSpPr>
        <p:spPr>
          <a:xfrm>
            <a:off x="12252960" y="5806440"/>
            <a:ext cx="3108960" cy="86868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600" b="1">
                <a:solidFill>
                  <a:srgbClr val="1D1D1F"/>
                </a:solidFill>
                <a:latin typeface="Arial"/>
              </a:rPr>
              <a:t>2 BO motors</a:t>
            </a:r>
          </a:p>
        </p:txBody>
      </p:sp>
      <p:sp>
        <p:nvSpPr>
          <p:cNvPr id="144" name="Rounded Rectangle 143"/>
          <p:cNvSpPr/>
          <p:nvPr/>
        </p:nvSpPr>
        <p:spPr>
          <a:xfrm>
            <a:off x="15727680" y="3520440"/>
            <a:ext cx="1600200" cy="868680"/>
          </a:xfrm>
          <a:prstGeom prst="roundRect">
            <a:avLst>
              <a:gd name="adj" fmla="val 6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400" b="1">
                <a:solidFill>
                  <a:srgbClr val="1D1D1F"/>
                </a:solidFill>
                <a:latin typeface="Arial"/>
              </a:rPr>
              <a:t>HC-SR04</a:t>
            </a:r>
          </a:p>
          <a:p>
            <a:pPr algn="ctr"/>
            <a:r>
              <a:rPr sz="1200" b="0">
                <a:solidFill>
                  <a:srgbClr val="1D1D1F"/>
                </a:solidFill>
                <a:latin typeface="Arial"/>
              </a:rPr>
              <a:t>distance</a:t>
            </a:r>
          </a:p>
        </p:txBody>
      </p:sp>
      <p:cxnSp>
        <p:nvCxnSpPr>
          <p:cNvPr id="145" name="Connector 144"/>
          <p:cNvCxnSpPr/>
          <p:nvPr/>
        </p:nvCxnSpPr>
        <p:spPr>
          <a:xfrm flipH="1">
            <a:off x="15380208" y="3950208"/>
            <a:ext cx="329184" cy="0"/>
          </a:xfrm>
          <a:prstGeom prst="line">
            <a:avLst/>
          </a:prstGeom>
          <a:ln w="2540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15544800" y="4709160"/>
            <a:ext cx="1920240" cy="1463040"/>
          </a:xfrm>
          <a:prstGeom prst="rect">
            <a:avLst/>
          </a:prstGeom>
          <a:noFill/>
        </p:spPr>
        <p:txBody>
          <a:bodyPr wrap="square" lIns="0" rIns="0" tIns="0" bIns="0" anchor="t">
            <a:spAutoFit/>
          </a:bodyPr>
          <a:lstStyle/>
          <a:p>
            <a:pPr algn="l">
              <a:lnSpc>
                <a:spcPct val="105000"/>
              </a:lnSpc>
              <a:spcAft>
                <a:spcPts val="400"/>
              </a:spcAft>
            </a:pPr>
            <a:r>
              <a:rPr sz="1300" b="0" i="0">
                <a:solidFill>
                  <a:srgbClr val="2E4057"/>
                </a:solidFill>
                <a:latin typeface="Arial"/>
              </a:rPr>
              <a:t>blocks forward motion under 25 cm</a:t>
            </a:r>
          </a:p>
        </p:txBody>
      </p:sp>
      <p:cxnSp>
        <p:nvCxnSpPr>
          <p:cNvPr id="147" name="Connector 146"/>
          <p:cNvCxnSpPr/>
          <p:nvPr/>
        </p:nvCxnSpPr>
        <p:spPr>
          <a:xfrm>
            <a:off x="4005072" y="4846320"/>
            <a:ext cx="768096" cy="0"/>
          </a:xfrm>
          <a:prstGeom prst="line">
            <a:avLst/>
          </a:prstGeom>
          <a:ln w="4445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3840480" y="4160520"/>
            <a:ext cx="1097280" cy="640080"/>
          </a:xfrm>
          <a:prstGeom prst="rect">
            <a:avLst/>
          </a:prstGeom>
          <a:noFill/>
        </p:spPr>
        <p:txBody>
          <a:bodyPr wrap="square" lIns="0" rIns="0" tIns="0" bIns="0" anchor="t">
            <a:spAutoFit/>
          </a:bodyPr>
          <a:lstStyle/>
          <a:p>
            <a:pPr algn="ctr">
              <a:lnSpc>
                <a:spcPct val="105000"/>
              </a:lnSpc>
              <a:spcAft>
                <a:spcPts val="0"/>
              </a:spcAft>
            </a:pPr>
            <a:r>
              <a:rPr sz="1200" b="1" i="0">
                <a:solidFill>
                  <a:srgbClr val="D9622B"/>
                </a:solidFill>
                <a:latin typeface="Arial"/>
              </a:rPr>
              <a:t>Wi-Fi
video</a:t>
            </a:r>
          </a:p>
        </p:txBody>
      </p:sp>
      <p:cxnSp>
        <p:nvCxnSpPr>
          <p:cNvPr id="149" name="Connector 148"/>
          <p:cNvCxnSpPr/>
          <p:nvPr/>
        </p:nvCxnSpPr>
        <p:spPr>
          <a:xfrm>
            <a:off x="11137392" y="4846320"/>
            <a:ext cx="768096" cy="0"/>
          </a:xfrm>
          <a:prstGeom prst="line">
            <a:avLst/>
          </a:prstGeom>
          <a:ln w="44450">
            <a:solidFill>
              <a:srgbClr val="D962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10835640" y="4160520"/>
            <a:ext cx="1417320" cy="640080"/>
          </a:xfrm>
          <a:prstGeom prst="rect">
            <a:avLst/>
          </a:prstGeom>
          <a:noFill/>
        </p:spPr>
        <p:txBody>
          <a:bodyPr wrap="square" lIns="0" rIns="0" tIns="0" bIns="0" anchor="t">
            <a:spAutoFit/>
          </a:bodyPr>
          <a:lstStyle/>
          <a:p>
            <a:pPr algn="ctr">
              <a:lnSpc>
                <a:spcPct val="105000"/>
              </a:lnSpc>
              <a:spcAft>
                <a:spcPts val="0"/>
              </a:spcAft>
            </a:pPr>
            <a:r>
              <a:rPr sz="1200" b="1" i="0">
                <a:solidFill>
                  <a:srgbClr val="D9622B"/>
                </a:solidFill>
                <a:latin typeface="Arial"/>
              </a:rPr>
              <a:t>HC-05
Bluetooth</a:t>
            </a:r>
          </a:p>
        </p:txBody>
      </p:sp>
      <p:sp>
        <p:nvSpPr>
          <p:cNvPr id="151" name="Rounded Rectangle 150"/>
          <p:cNvSpPr/>
          <p:nvPr/>
        </p:nvSpPr>
        <p:spPr>
          <a:xfrm>
            <a:off x="6400800" y="7040880"/>
            <a:ext cx="6858000" cy="502920"/>
          </a:xfrm>
          <a:prstGeom prst="roundRect">
            <a:avLst>
              <a:gd name="adj" fmla="val 50000"/>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400" b="1">
                <a:solidFill>
                  <a:srgbClr val="FFFFFF"/>
                </a:solidFill>
                <a:latin typeface="Arial"/>
              </a:rPr>
              <a:t>Serial line, 20× a second:   L120,R-80   (left, right: −255…255)</a:t>
            </a:r>
          </a:p>
        </p:txBody>
      </p:sp>
      <p:sp>
        <p:nvSpPr>
          <p:cNvPr id="152" name="Rounded Rectangle 151"/>
          <p:cNvSpPr/>
          <p:nvPr/>
        </p:nvSpPr>
        <p:spPr>
          <a:xfrm>
            <a:off x="685800" y="7818120"/>
            <a:ext cx="5486400" cy="1965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960120" y="8001000"/>
            <a:ext cx="5029200" cy="365760"/>
          </a:xfrm>
          <a:prstGeom prst="rect">
            <a:avLst/>
          </a:prstGeom>
          <a:noFill/>
        </p:spPr>
        <p:txBody>
          <a:bodyPr wrap="square" lIns="0" rIns="0" tIns="0" bIns="0" anchor="t">
            <a:spAutoFit/>
          </a:bodyPr>
          <a:lstStyle/>
          <a:p>
            <a:pPr algn="l">
              <a:lnSpc>
                <a:spcPct val="105000"/>
              </a:lnSpc>
              <a:spcAft>
                <a:spcPts val="400"/>
              </a:spcAft>
            </a:pPr>
            <a:r>
              <a:rPr sz="1700" b="1" i="0">
                <a:solidFill>
                  <a:srgbClr val="1D1D1F"/>
                </a:solidFill>
                <a:latin typeface="Arial"/>
              </a:rPr>
              <a:t>Tech stack</a:t>
            </a:r>
          </a:p>
        </p:txBody>
      </p:sp>
      <p:sp>
        <p:nvSpPr>
          <p:cNvPr id="154" name="Rounded Rectangle 153"/>
          <p:cNvSpPr/>
          <p:nvPr/>
        </p:nvSpPr>
        <p:spPr>
          <a:xfrm>
            <a:off x="960120" y="8503920"/>
            <a:ext cx="886968" cy="411480"/>
          </a:xfrm>
          <a:prstGeom prst="roundRect">
            <a:avLst>
              <a:gd name="adj" fmla="val 50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1">
                <a:solidFill>
                  <a:srgbClr val="1D1D1F"/>
                </a:solidFill>
                <a:latin typeface="Arial"/>
              </a:rPr>
              <a:t>Python</a:t>
            </a:r>
          </a:p>
        </p:txBody>
      </p:sp>
      <p:sp>
        <p:nvSpPr>
          <p:cNvPr id="155" name="Rounded Rectangle 154"/>
          <p:cNvSpPr/>
          <p:nvPr/>
        </p:nvSpPr>
        <p:spPr>
          <a:xfrm>
            <a:off x="1956815" y="8503920"/>
            <a:ext cx="886968" cy="411480"/>
          </a:xfrm>
          <a:prstGeom prst="roundRect">
            <a:avLst>
              <a:gd name="adj" fmla="val 50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1">
                <a:solidFill>
                  <a:srgbClr val="1D1D1F"/>
                </a:solidFill>
                <a:latin typeface="Arial"/>
              </a:rPr>
              <a:t>OpenCV</a:t>
            </a:r>
          </a:p>
        </p:txBody>
      </p:sp>
      <p:sp>
        <p:nvSpPr>
          <p:cNvPr id="156" name="Rounded Rectangle 155"/>
          <p:cNvSpPr/>
          <p:nvPr/>
        </p:nvSpPr>
        <p:spPr>
          <a:xfrm>
            <a:off x="2953511" y="8503920"/>
            <a:ext cx="2203704" cy="411480"/>
          </a:xfrm>
          <a:prstGeom prst="roundRect">
            <a:avLst>
              <a:gd name="adj" fmla="val 50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1">
                <a:solidFill>
                  <a:srgbClr val="1D1D1F"/>
                </a:solidFill>
                <a:latin typeface="Arial"/>
              </a:rPr>
              <a:t>Ultralytics YOLO26</a:t>
            </a:r>
          </a:p>
        </p:txBody>
      </p:sp>
      <p:sp>
        <p:nvSpPr>
          <p:cNvPr id="157" name="Rounded Rectangle 156"/>
          <p:cNvSpPr/>
          <p:nvPr/>
        </p:nvSpPr>
        <p:spPr>
          <a:xfrm>
            <a:off x="960120" y="9052560"/>
            <a:ext cx="1764792" cy="411480"/>
          </a:xfrm>
          <a:prstGeom prst="roundRect">
            <a:avLst>
              <a:gd name="adj" fmla="val 50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1">
                <a:solidFill>
                  <a:srgbClr val="1D1D1F"/>
                </a:solidFill>
                <a:latin typeface="Arial"/>
              </a:rPr>
              <a:t>PyTorch + CUDA</a:t>
            </a:r>
          </a:p>
        </p:txBody>
      </p:sp>
      <p:sp>
        <p:nvSpPr>
          <p:cNvPr id="158" name="Rounded Rectangle 157"/>
          <p:cNvSpPr/>
          <p:nvPr/>
        </p:nvSpPr>
        <p:spPr>
          <a:xfrm>
            <a:off x="2834639" y="9052560"/>
            <a:ext cx="1435607" cy="411480"/>
          </a:xfrm>
          <a:prstGeom prst="roundRect">
            <a:avLst>
              <a:gd name="adj" fmla="val 50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1">
                <a:solidFill>
                  <a:srgbClr val="1D1D1F"/>
                </a:solidFill>
                <a:latin typeface="Arial"/>
              </a:rPr>
              <a:t>Arduino C++</a:t>
            </a:r>
          </a:p>
        </p:txBody>
      </p:sp>
      <p:sp>
        <p:nvSpPr>
          <p:cNvPr id="159" name="Rounded Rectangle 158"/>
          <p:cNvSpPr/>
          <p:nvPr/>
        </p:nvSpPr>
        <p:spPr>
          <a:xfrm>
            <a:off x="4379975" y="9052560"/>
            <a:ext cx="1106424" cy="411480"/>
          </a:xfrm>
          <a:prstGeom prst="roundRect">
            <a:avLst>
              <a:gd name="adj" fmla="val 50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1">
                <a:solidFill>
                  <a:srgbClr val="1D1D1F"/>
                </a:solidFill>
                <a:latin typeface="Arial"/>
              </a:rPr>
              <a:t>Three.js</a:t>
            </a:r>
          </a:p>
        </p:txBody>
      </p:sp>
      <p:sp>
        <p:nvSpPr>
          <p:cNvPr id="160" name="Rounded Rectangle 159"/>
          <p:cNvSpPr/>
          <p:nvPr/>
        </p:nvSpPr>
        <p:spPr>
          <a:xfrm>
            <a:off x="960120" y="9601200"/>
            <a:ext cx="777240" cy="411480"/>
          </a:xfrm>
          <a:prstGeom prst="roundRect">
            <a:avLst>
              <a:gd name="adj" fmla="val 50000"/>
            </a:avLst>
          </a:prstGeom>
          <a:solidFill>
            <a:srgbClr val="FFFFFF"/>
          </a:solidFill>
          <a:ln w="1905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200" b="1">
                <a:solidFill>
                  <a:srgbClr val="1D1D1F"/>
                </a:solidFill>
                <a:latin typeface="Arial"/>
              </a:rPr>
              <a:t>Wokwi</a:t>
            </a:r>
          </a:p>
        </p:txBody>
      </p:sp>
      <p:sp>
        <p:nvSpPr>
          <p:cNvPr id="161" name="Rounded Rectangle 160"/>
          <p:cNvSpPr/>
          <p:nvPr/>
        </p:nvSpPr>
        <p:spPr>
          <a:xfrm>
            <a:off x="6400800" y="7818120"/>
            <a:ext cx="5715000" cy="1965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675120" y="8001000"/>
            <a:ext cx="5303520" cy="365760"/>
          </a:xfrm>
          <a:prstGeom prst="rect">
            <a:avLst/>
          </a:prstGeom>
          <a:noFill/>
        </p:spPr>
        <p:txBody>
          <a:bodyPr wrap="square" lIns="0" rIns="0" tIns="0" bIns="0" anchor="t">
            <a:spAutoFit/>
          </a:bodyPr>
          <a:lstStyle/>
          <a:p>
            <a:pPr algn="l">
              <a:lnSpc>
                <a:spcPct val="105000"/>
              </a:lnSpc>
              <a:spcAft>
                <a:spcPts val="400"/>
              </a:spcAft>
            </a:pPr>
            <a:r>
              <a:rPr sz="1700" b="1" i="0">
                <a:solidFill>
                  <a:srgbClr val="1D1D1F"/>
                </a:solidFill>
                <a:latin typeface="Arial"/>
              </a:rPr>
              <a:t>Safety runs on the rover, not the laptop</a:t>
            </a:r>
          </a:p>
        </p:txBody>
      </p:sp>
      <p:sp>
        <p:nvSpPr>
          <p:cNvPr id="163" name="Oval 162"/>
          <p:cNvSpPr/>
          <p:nvPr/>
        </p:nvSpPr>
        <p:spPr>
          <a:xfrm>
            <a:off x="6675120" y="8458200"/>
            <a:ext cx="347472" cy="347472"/>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4" name="Picture 163" descr="FaShieldAlt.png"/>
          <p:cNvPicPr>
            <a:picLocks noChangeAspect="1"/>
          </p:cNvPicPr>
          <p:nvPr/>
        </p:nvPicPr>
        <p:blipFill>
          <a:blip r:embed="rId5"/>
          <a:stretch>
            <a:fillRect/>
          </a:stretch>
        </p:blipFill>
        <p:spPr>
          <a:xfrm>
            <a:off x="6758513" y="8541593"/>
            <a:ext cx="180685" cy="180685"/>
          </a:xfrm>
          <a:prstGeom prst="rect">
            <a:avLst/>
          </a:prstGeom>
        </p:spPr>
      </p:pic>
      <p:sp>
        <p:nvSpPr>
          <p:cNvPr id="165" name="TextBox 164"/>
          <p:cNvSpPr txBox="1"/>
          <p:nvPr/>
        </p:nvSpPr>
        <p:spPr>
          <a:xfrm>
            <a:off x="7132320" y="8476488"/>
            <a:ext cx="4846320" cy="365760"/>
          </a:xfrm>
          <a:prstGeom prst="rect">
            <a:avLst/>
          </a:prstGeom>
          <a:noFill/>
        </p:spPr>
        <p:txBody>
          <a:bodyPr wrap="square" lIns="0" rIns="0" tIns="0" bIns="0" anchor="t">
            <a:spAutoFit/>
          </a:bodyPr>
          <a:lstStyle/>
          <a:p>
            <a:pPr algn="l">
              <a:lnSpc>
                <a:spcPct val="105000"/>
              </a:lnSpc>
              <a:spcAft>
                <a:spcPts val="400"/>
              </a:spcAft>
            </a:pPr>
            <a:r>
              <a:rPr sz="1400" b="0" i="0">
                <a:solidFill>
                  <a:srgbClr val="1D1D1F"/>
                </a:solidFill>
                <a:latin typeface="Arial"/>
              </a:rPr>
              <a:t>No command for 500 ms → motors stop</a:t>
            </a:r>
          </a:p>
        </p:txBody>
      </p:sp>
      <p:sp>
        <p:nvSpPr>
          <p:cNvPr id="166" name="Oval 165"/>
          <p:cNvSpPr/>
          <p:nvPr/>
        </p:nvSpPr>
        <p:spPr>
          <a:xfrm>
            <a:off x="6675120" y="8887968"/>
            <a:ext cx="347472" cy="347472"/>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7" name="Picture 166" descr="FaShieldAlt.png"/>
          <p:cNvPicPr>
            <a:picLocks noChangeAspect="1"/>
          </p:cNvPicPr>
          <p:nvPr/>
        </p:nvPicPr>
        <p:blipFill>
          <a:blip r:embed="rId5"/>
          <a:stretch>
            <a:fillRect/>
          </a:stretch>
        </p:blipFill>
        <p:spPr>
          <a:xfrm>
            <a:off x="6758513" y="8971361"/>
            <a:ext cx="180685" cy="180685"/>
          </a:xfrm>
          <a:prstGeom prst="rect">
            <a:avLst/>
          </a:prstGeom>
        </p:spPr>
      </p:pic>
      <p:sp>
        <p:nvSpPr>
          <p:cNvPr id="168" name="TextBox 167"/>
          <p:cNvSpPr txBox="1"/>
          <p:nvPr/>
        </p:nvSpPr>
        <p:spPr>
          <a:xfrm>
            <a:off x="7132320" y="8906256"/>
            <a:ext cx="4846320" cy="365760"/>
          </a:xfrm>
          <a:prstGeom prst="rect">
            <a:avLst/>
          </a:prstGeom>
          <a:noFill/>
        </p:spPr>
        <p:txBody>
          <a:bodyPr wrap="square" lIns="0" rIns="0" tIns="0" bIns="0" anchor="t">
            <a:spAutoFit/>
          </a:bodyPr>
          <a:lstStyle/>
          <a:p>
            <a:pPr algn="l">
              <a:lnSpc>
                <a:spcPct val="105000"/>
              </a:lnSpc>
              <a:spcAft>
                <a:spcPts val="400"/>
              </a:spcAft>
            </a:pPr>
            <a:r>
              <a:rPr sz="1400" b="0" i="0">
                <a:solidFill>
                  <a:srgbClr val="1D1D1F"/>
                </a:solidFill>
                <a:latin typeface="Arial"/>
              </a:rPr>
              <a:t>Obstacle under 25 cm → no forward</a:t>
            </a:r>
          </a:p>
        </p:txBody>
      </p:sp>
      <p:sp>
        <p:nvSpPr>
          <p:cNvPr id="169" name="Oval 168"/>
          <p:cNvSpPr/>
          <p:nvPr/>
        </p:nvSpPr>
        <p:spPr>
          <a:xfrm>
            <a:off x="6675120" y="9317736"/>
            <a:ext cx="347472" cy="347472"/>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0" name="Picture 169" descr="FaShieldAlt.png"/>
          <p:cNvPicPr>
            <a:picLocks noChangeAspect="1"/>
          </p:cNvPicPr>
          <p:nvPr/>
        </p:nvPicPr>
        <p:blipFill>
          <a:blip r:embed="rId5"/>
          <a:stretch>
            <a:fillRect/>
          </a:stretch>
        </p:blipFill>
        <p:spPr>
          <a:xfrm>
            <a:off x="6758513" y="9401129"/>
            <a:ext cx="180685" cy="180685"/>
          </a:xfrm>
          <a:prstGeom prst="rect">
            <a:avLst/>
          </a:prstGeom>
        </p:spPr>
      </p:pic>
      <p:sp>
        <p:nvSpPr>
          <p:cNvPr id="171" name="TextBox 170"/>
          <p:cNvSpPr txBox="1"/>
          <p:nvPr/>
        </p:nvSpPr>
        <p:spPr>
          <a:xfrm>
            <a:off x="7132320" y="9336024"/>
            <a:ext cx="4846320" cy="365760"/>
          </a:xfrm>
          <a:prstGeom prst="rect">
            <a:avLst/>
          </a:prstGeom>
          <a:noFill/>
        </p:spPr>
        <p:txBody>
          <a:bodyPr wrap="square" lIns="0" rIns="0" tIns="0" bIns="0" anchor="t">
            <a:spAutoFit/>
          </a:bodyPr>
          <a:lstStyle/>
          <a:p>
            <a:pPr algn="l">
              <a:lnSpc>
                <a:spcPct val="105000"/>
              </a:lnSpc>
              <a:spcAft>
                <a:spcPts val="400"/>
              </a:spcAft>
            </a:pPr>
            <a:r>
              <a:rPr sz="1400" b="0" i="0">
                <a:solidFill>
                  <a:srgbClr val="1D1D1F"/>
                </a:solidFill>
                <a:latin typeface="Arial"/>
              </a:rPr>
              <a:t>Every value clamped to ±255</a:t>
            </a:r>
          </a:p>
        </p:txBody>
      </p:sp>
      <p:sp>
        <p:nvSpPr>
          <p:cNvPr id="172" name="Rounded Rectangle 171"/>
          <p:cNvSpPr/>
          <p:nvPr/>
        </p:nvSpPr>
        <p:spPr>
          <a:xfrm>
            <a:off x="12344400" y="7818120"/>
            <a:ext cx="5257800" cy="1965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2618720" y="8001000"/>
            <a:ext cx="4846320" cy="365760"/>
          </a:xfrm>
          <a:prstGeom prst="rect">
            <a:avLst/>
          </a:prstGeom>
          <a:noFill/>
        </p:spPr>
        <p:txBody>
          <a:bodyPr wrap="square" lIns="0" rIns="0" tIns="0" bIns="0" anchor="t">
            <a:spAutoFit/>
          </a:bodyPr>
          <a:lstStyle/>
          <a:p>
            <a:pPr algn="l">
              <a:lnSpc>
                <a:spcPct val="105000"/>
              </a:lnSpc>
              <a:spcAft>
                <a:spcPts val="400"/>
              </a:spcAft>
            </a:pPr>
            <a:r>
              <a:rPr sz="1700" b="1" i="0">
                <a:solidFill>
                  <a:srgbClr val="1D1D1F"/>
                </a:solidFill>
                <a:latin typeface="Arial"/>
              </a:rPr>
              <a:t>APIs and data</a:t>
            </a:r>
          </a:p>
        </p:txBody>
      </p:sp>
      <p:sp>
        <p:nvSpPr>
          <p:cNvPr id="174" name="TextBox 173"/>
          <p:cNvSpPr txBox="1"/>
          <p:nvPr/>
        </p:nvSpPr>
        <p:spPr>
          <a:xfrm>
            <a:off x="12618720" y="8458200"/>
            <a:ext cx="4846320" cy="1280160"/>
          </a:xfrm>
          <a:prstGeom prst="rect">
            <a:avLst/>
          </a:prstGeom>
          <a:noFill/>
        </p:spPr>
        <p:txBody>
          <a:bodyPr wrap="square" lIns="0" rIns="0" tIns="0" bIns="0" anchor="t">
            <a:spAutoFit/>
          </a:bodyPr>
          <a:lstStyle/>
          <a:p>
            <a:pPr algn="l">
              <a:lnSpc>
                <a:spcPct val="105000"/>
              </a:lnSpc>
              <a:spcAft>
                <a:spcPts val="600"/>
              </a:spcAft>
            </a:pPr>
            <a:r>
              <a:rPr sz="1400" b="0" i="0">
                <a:solidFill>
                  <a:srgbClr val="2E4057"/>
                </a:solidFill>
                <a:latin typeface="Arial"/>
              </a:rPr>
              <a:t>No cloud and no paid APIs: everything runs offline on the laptop.</a:t>
            </a:r>
          </a:p>
          <a:p>
            <a:pPr algn="l">
              <a:lnSpc>
                <a:spcPct val="105000"/>
              </a:lnSpc>
              <a:spcAft>
                <a:spcPts val="600"/>
              </a:spcAft>
            </a:pPr>
            <a:r>
              <a:rPr sz="1400" b="0" i="0">
                <a:solidFill>
                  <a:srgbClr val="2E4057"/>
                </a:solidFill>
                <a:latin typeface="Arial"/>
              </a:rPr>
              <a:t>The same commands drive the digital twin and walk mode.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43" name="Google Shape;143;p19"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44" name="TextBox 143"/>
          <p:cNvSpPr txBox="1"/>
          <p:nvPr/>
        </p:nvSpPr>
        <p:spPr>
          <a:xfrm>
            <a:off x="685800" y="1417320"/>
            <a:ext cx="16916400" cy="685800"/>
          </a:xfrm>
          <a:prstGeom prst="rect">
            <a:avLst/>
          </a:prstGeom>
          <a:noFill/>
        </p:spPr>
        <p:txBody>
          <a:bodyPr wrap="square" lIns="0" rIns="0" tIns="0" bIns="0" anchor="t">
            <a:spAutoFit/>
          </a:bodyPr>
          <a:lstStyle/>
          <a:p>
            <a:pPr algn="l">
              <a:lnSpc>
                <a:spcPct val="105000"/>
              </a:lnSpc>
              <a:spcAft>
                <a:spcPts val="400"/>
              </a:spcAft>
            </a:pPr>
            <a:r>
              <a:rPr sz="3400" b="1" i="0">
                <a:solidFill>
                  <a:srgbClr val="1D1D1F"/>
                </a:solidFill>
                <a:latin typeface="Arial"/>
              </a:rPr>
              <a:t>HARDWARE: CIRCUIT &amp; SIMULATION</a:t>
            </a:r>
          </a:p>
        </p:txBody>
      </p:sp>
      <p:sp>
        <p:nvSpPr>
          <p:cNvPr id="145" name="TextBox 144"/>
          <p:cNvSpPr txBox="1"/>
          <p:nvPr/>
        </p:nvSpPr>
        <p:spPr>
          <a:xfrm>
            <a:off x="685800" y="2103120"/>
            <a:ext cx="16916400" cy="457200"/>
          </a:xfrm>
          <a:prstGeom prst="rect">
            <a:avLst/>
          </a:prstGeom>
          <a:noFill/>
        </p:spPr>
        <p:txBody>
          <a:bodyPr wrap="square" lIns="0" rIns="0" tIns="0" bIns="0" anchor="t">
            <a:spAutoFit/>
          </a:bodyPr>
          <a:lstStyle/>
          <a:p>
            <a:pPr algn="l">
              <a:lnSpc>
                <a:spcPct val="105000"/>
              </a:lnSpc>
              <a:spcAft>
                <a:spcPts val="400"/>
              </a:spcAft>
            </a:pPr>
            <a:r>
              <a:rPr sz="1800" b="0" i="0">
                <a:solidFill>
                  <a:srgbClr val="5B616E"/>
                </a:solidFill>
                <a:latin typeface="Arial"/>
              </a:rPr>
              <a:t>Arduino Uno + L298N + HC-SR04 + HC-05, wired on paper and running in Wokwi</a:t>
            </a:r>
          </a:p>
        </p:txBody>
      </p:sp>
      <p:pic>
        <p:nvPicPr>
          <p:cNvPr id="146" name="Picture 145" descr="wiring_diagram.png"/>
          <p:cNvPicPr>
            <a:picLocks noChangeAspect="1"/>
          </p:cNvPicPr>
          <p:nvPr/>
        </p:nvPicPr>
        <p:blipFill>
          <a:blip r:embed="rId2"/>
          <a:stretch>
            <a:fillRect/>
          </a:stretch>
        </p:blipFill>
        <p:spPr>
          <a:xfrm>
            <a:off x="685800" y="2697480"/>
            <a:ext cx="9052560" cy="5675811"/>
          </a:xfrm>
          <a:prstGeom prst="rect">
            <a:avLst/>
          </a:prstGeom>
          <a:ln w="12700">
            <a:solidFill>
              <a:srgbClr val="C9CDD3"/>
            </a:solidFill>
          </a:ln>
        </p:spPr>
      </p:pic>
      <p:sp>
        <p:nvSpPr>
          <p:cNvPr id="147" name="TextBox 146"/>
          <p:cNvSpPr txBox="1"/>
          <p:nvPr/>
        </p:nvSpPr>
        <p:spPr>
          <a:xfrm>
            <a:off x="685800" y="8483019"/>
            <a:ext cx="9052560" cy="365760"/>
          </a:xfrm>
          <a:prstGeom prst="rect">
            <a:avLst/>
          </a:prstGeom>
          <a:noFill/>
        </p:spPr>
        <p:txBody>
          <a:bodyPr wrap="square" lIns="0" rIns="0" tIns="0" bIns="0" anchor="t">
            <a:spAutoFit/>
          </a:bodyPr>
          <a:lstStyle/>
          <a:p>
            <a:pPr algn="l">
              <a:lnSpc>
                <a:spcPct val="105000"/>
              </a:lnSpc>
              <a:spcAft>
                <a:spcPts val="400"/>
              </a:spcAft>
            </a:pPr>
            <a:r>
              <a:rPr sz="1300" b="0" i="0">
                <a:solidFill>
                  <a:srgbClr val="5B616E"/>
                </a:solidFill>
                <a:latin typeface="Arial"/>
              </a:rPr>
              <a:t>Wiring diagram: the same pins are used in the firmware, Wokwi and the 3D twin</a:t>
            </a:r>
          </a:p>
        </p:txBody>
      </p:sp>
      <p:pic>
        <p:nvPicPr>
          <p:cNvPr id="148" name="Picture 147" descr="wokwi_circuit.png"/>
          <p:cNvPicPr>
            <a:picLocks noChangeAspect="1"/>
          </p:cNvPicPr>
          <p:nvPr/>
        </p:nvPicPr>
        <p:blipFill>
          <a:blip r:embed="rId4"/>
          <a:stretch>
            <a:fillRect/>
          </a:stretch>
        </p:blipFill>
        <p:spPr>
          <a:xfrm>
            <a:off x="10149840" y="2697480"/>
            <a:ext cx="3291840" cy="2240339"/>
          </a:xfrm>
          <a:prstGeom prst="rect">
            <a:avLst/>
          </a:prstGeom>
          <a:ln w="12700">
            <a:solidFill>
              <a:srgbClr val="C9CDD3"/>
            </a:solidFill>
          </a:ln>
        </p:spPr>
      </p:pic>
      <p:sp>
        <p:nvSpPr>
          <p:cNvPr id="149" name="TextBox 148"/>
          <p:cNvSpPr txBox="1"/>
          <p:nvPr/>
        </p:nvSpPr>
        <p:spPr>
          <a:xfrm>
            <a:off x="10149840" y="5029259"/>
            <a:ext cx="3291840" cy="640080"/>
          </a:xfrm>
          <a:prstGeom prst="rect">
            <a:avLst/>
          </a:prstGeom>
          <a:noFill/>
        </p:spPr>
        <p:txBody>
          <a:bodyPr wrap="square" lIns="0" rIns="0" tIns="0" bIns="0" anchor="t">
            <a:spAutoFit/>
          </a:bodyPr>
          <a:lstStyle/>
          <a:p>
            <a:pPr algn="l">
              <a:lnSpc>
                <a:spcPct val="105000"/>
              </a:lnSpc>
              <a:spcAft>
                <a:spcPts val="400"/>
              </a:spcAft>
            </a:pPr>
            <a:r>
              <a:rPr sz="1200" b="0" i="0">
                <a:solidFill>
                  <a:srgbClr val="5B616E"/>
                </a:solidFill>
                <a:latin typeface="Arial"/>
              </a:rPr>
              <a:t>My Wokwi run: Uno, HC-SR04, OLED and LEDs on the L298N pins</a:t>
            </a:r>
          </a:p>
        </p:txBody>
      </p:sp>
      <p:sp>
        <p:nvSpPr>
          <p:cNvPr id="150" name="Rounded Rectangle 149"/>
          <p:cNvSpPr/>
          <p:nvPr/>
        </p:nvSpPr>
        <p:spPr>
          <a:xfrm>
            <a:off x="13716000" y="2697480"/>
            <a:ext cx="3886200" cy="2926139"/>
          </a:xfrm>
          <a:prstGeom prst="roundRect">
            <a:avLst>
              <a:gd name="adj" fmla="val 4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3898880" y="2834640"/>
            <a:ext cx="3611880" cy="2697539"/>
          </a:xfrm>
          <a:prstGeom prst="rect">
            <a:avLst/>
          </a:prstGeom>
          <a:noFill/>
        </p:spPr>
        <p:txBody>
          <a:bodyPr wrap="square" lIns="0" rIns="0" tIns="0" bIns="0" anchor="t">
            <a:spAutoFit/>
          </a:bodyPr>
          <a:lstStyle/>
          <a:p>
            <a:pPr algn="l">
              <a:lnSpc>
                <a:spcPct val="105000"/>
              </a:lnSpc>
              <a:spcAft>
                <a:spcPts val="300"/>
              </a:spcAft>
            </a:pPr>
            <a:r>
              <a:rPr sz="1200" b="0" i="0">
                <a:solidFill>
                  <a:srgbClr val="9FE8B4"/>
                </a:solidFill>
                <a:latin typeface="Courier New"/>
              </a:rPr>
              <a:t>Wokwi serial monitor</a:t>
            </a:r>
          </a:p>
          <a:p>
            <a:pPr algn="l">
              <a:lnSpc>
                <a:spcPct val="105000"/>
              </a:lnSpc>
              <a:spcAft>
                <a:spcPts val="300"/>
              </a:spcAft>
            </a:pPr>
            <a:r>
              <a:rPr sz="1200" b="0" i="0">
                <a:solidFill>
                  <a:srgbClr val="9FE8B4"/>
                </a:solidFill>
                <a:latin typeface="Courier New"/>
              </a:rPr>
              <a:t>[demo] SEARCH: scan right</a:t>
            </a:r>
          </a:p>
          <a:p>
            <a:pPr algn="l">
              <a:lnSpc>
                <a:spcPct val="105000"/>
              </a:lnSpc>
              <a:spcAft>
                <a:spcPts val="300"/>
              </a:spcAft>
            </a:pPr>
            <a:r>
              <a:rPr sz="1200" b="0" i="0">
                <a:solidFill>
                  <a:srgbClr val="9FE8B4"/>
                </a:solidFill>
                <a:latin typeface="Courier New"/>
              </a:rPr>
              <a:t>[demo] TARGET: turn left</a:t>
            </a:r>
          </a:p>
          <a:p>
            <a:pPr algn="l">
              <a:lnSpc>
                <a:spcPct val="105000"/>
              </a:lnSpc>
              <a:spcAft>
                <a:spcPts val="300"/>
              </a:spcAft>
            </a:pPr>
            <a:r>
              <a:rPr sz="1200" b="0" i="0">
                <a:solidFill>
                  <a:srgbClr val="9FE8B4"/>
                </a:solidFill>
                <a:latin typeface="Courier New"/>
              </a:rPr>
              <a:t>[demo] NAVIGATE: forward</a:t>
            </a:r>
          </a:p>
          <a:p>
            <a:pPr algn="l">
              <a:lnSpc>
                <a:spcPct val="105000"/>
              </a:lnSpc>
              <a:spcAft>
                <a:spcPts val="300"/>
              </a:spcAft>
            </a:pPr>
            <a:r>
              <a:rPr sz="1200" b="0" i="0">
                <a:solidFill>
                  <a:srgbClr val="9FE8B4"/>
                </a:solidFill>
                <a:latin typeface="Courier New"/>
              </a:rPr>
              <a:t>[demo] LINK LOST: no cmds</a:t>
            </a:r>
          </a:p>
          <a:p>
            <a:pPr algn="l">
              <a:lnSpc>
                <a:spcPct val="105000"/>
              </a:lnSpc>
              <a:spcAft>
                <a:spcPts val="300"/>
              </a:spcAft>
            </a:pPr>
            <a:r>
              <a:rPr sz="1200" b="0" i="0">
                <a:solidFill>
                  <a:srgbClr val="9FE8B4"/>
                </a:solidFill>
                <a:latin typeface="Courier New"/>
              </a:rPr>
              <a:t>[safety] no command for</a:t>
            </a:r>
          </a:p>
          <a:p>
            <a:pPr algn="l">
              <a:lnSpc>
                <a:spcPct val="105000"/>
              </a:lnSpc>
              <a:spcAft>
                <a:spcPts val="300"/>
              </a:spcAft>
            </a:pPr>
            <a:r>
              <a:rPr sz="1200" b="0" i="0">
                <a:solidFill>
                  <a:srgbClr val="9FE8B4"/>
                </a:solidFill>
                <a:latin typeface="Courier New"/>
              </a:rPr>
              <a:t>  500 ms -&gt; motors stopped</a:t>
            </a:r>
          </a:p>
        </p:txBody>
      </p:sp>
      <p:graphicFrame>
        <p:nvGraphicFramePr>
          <p:cNvPr id="152" name="Chart 151"/>
          <p:cNvGraphicFramePr>
            <a:graphicFrameLocks noGrp="1"/>
          </p:cNvGraphicFramePr>
          <p:nvPr/>
        </p:nvGraphicFramePr>
        <p:xfrm>
          <a:off x="10149840" y="5806499"/>
          <a:ext cx="7452360" cy="4023300"/>
        </p:xfrm>
        <a:graphic>
          <a:graphicData uri="http://schemas.openxmlformats.org/drawingml/2006/chart">
            <c:chart r:id="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43" name="Google Shape;143;p19"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44" name="TextBox 143"/>
          <p:cNvSpPr txBox="1"/>
          <p:nvPr/>
        </p:nvSpPr>
        <p:spPr>
          <a:xfrm>
            <a:off x="685800" y="1417320"/>
            <a:ext cx="16916400" cy="685800"/>
          </a:xfrm>
          <a:prstGeom prst="rect">
            <a:avLst/>
          </a:prstGeom>
          <a:noFill/>
        </p:spPr>
        <p:txBody>
          <a:bodyPr wrap="square" lIns="0" rIns="0" tIns="0" bIns="0" anchor="t">
            <a:spAutoFit/>
          </a:bodyPr>
          <a:lstStyle/>
          <a:p>
            <a:pPr algn="l">
              <a:lnSpc>
                <a:spcPct val="105000"/>
              </a:lnSpc>
              <a:spcAft>
                <a:spcPts val="400"/>
              </a:spcAft>
            </a:pPr>
            <a:r>
              <a:rPr sz="3400" b="1" i="0">
                <a:solidFill>
                  <a:srgbClr val="1D1D1F"/>
                </a:solidFill>
                <a:latin typeface="Arial"/>
              </a:rPr>
              <a:t>CURRENT PROGRESS: WHAT WORKS TODAY</a:t>
            </a:r>
          </a:p>
        </p:txBody>
      </p:sp>
      <p:sp>
        <p:nvSpPr>
          <p:cNvPr id="145" name="TextBox 144"/>
          <p:cNvSpPr txBox="1"/>
          <p:nvPr/>
        </p:nvSpPr>
        <p:spPr>
          <a:xfrm>
            <a:off x="685800" y="2103120"/>
            <a:ext cx="16916400" cy="457200"/>
          </a:xfrm>
          <a:prstGeom prst="rect">
            <a:avLst/>
          </a:prstGeom>
          <a:noFill/>
        </p:spPr>
        <p:txBody>
          <a:bodyPr wrap="square" lIns="0" rIns="0" tIns="0" bIns="0" anchor="t">
            <a:spAutoFit/>
          </a:bodyPr>
          <a:lstStyle/>
          <a:p>
            <a:pPr algn="l">
              <a:lnSpc>
                <a:spcPct val="105000"/>
              </a:lnSpc>
              <a:spcAft>
                <a:spcPts val="400"/>
              </a:spcAft>
            </a:pPr>
            <a:r>
              <a:rPr sz="1800" b="0" i="0">
                <a:solidFill>
                  <a:srgbClr val="5B616E"/>
                </a:solidFill>
                <a:latin typeface="Arial"/>
              </a:rPr>
              <a:t>Software, firmware and simulations are built and tested. The physical rover is the next step.</a:t>
            </a:r>
          </a:p>
        </p:txBody>
      </p:sp>
      <p:cxnSp>
        <p:nvCxnSpPr>
          <p:cNvPr id="146" name="Connector 145"/>
          <p:cNvCxnSpPr/>
          <p:nvPr/>
        </p:nvCxnSpPr>
        <p:spPr>
          <a:xfrm>
            <a:off x="1463040" y="3246120"/>
            <a:ext cx="15361920" cy="0"/>
          </a:xfrm>
          <a:prstGeom prst="line">
            <a:avLst/>
          </a:prstGeom>
          <a:ln w="50800">
            <a:solidFill>
              <a:srgbClr val="C9CDD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7" name="Oval 146"/>
          <p:cNvSpPr/>
          <p:nvPr/>
        </p:nvSpPr>
        <p:spPr>
          <a:xfrm>
            <a:off x="1170432" y="2953512"/>
            <a:ext cx="585216" cy="585216"/>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800" b="1">
                <a:solidFill>
                  <a:srgbClr val="FFFFFF"/>
                </a:solidFill>
                <a:latin typeface="Arial"/>
              </a:rPr>
              <a:t>✓</a:t>
            </a:r>
          </a:p>
        </p:txBody>
      </p:sp>
      <p:sp>
        <p:nvSpPr>
          <p:cNvPr id="148" name="TextBox 147"/>
          <p:cNvSpPr txBox="1"/>
          <p:nvPr/>
        </p:nvSpPr>
        <p:spPr>
          <a:xfrm>
            <a:off x="91440" y="3657600"/>
            <a:ext cx="2743200" cy="411480"/>
          </a:xfrm>
          <a:prstGeom prst="rect">
            <a:avLst/>
          </a:prstGeom>
          <a:noFill/>
        </p:spPr>
        <p:txBody>
          <a:bodyPr wrap="square" lIns="0" rIns="0" tIns="0" bIns="0" anchor="t">
            <a:spAutoFit/>
          </a:bodyPr>
          <a:lstStyle/>
          <a:p>
            <a:pPr algn="ctr">
              <a:lnSpc>
                <a:spcPct val="105000"/>
              </a:lnSpc>
              <a:spcAft>
                <a:spcPts val="400"/>
              </a:spcAft>
            </a:pPr>
            <a:r>
              <a:rPr sz="1500" b="1" i="0">
                <a:solidFill>
                  <a:srgbClr val="1D1D1F"/>
                </a:solidFill>
                <a:latin typeface="Arial"/>
              </a:rPr>
              <a:t>Vision Brain</a:t>
            </a:r>
          </a:p>
        </p:txBody>
      </p:sp>
      <p:sp>
        <p:nvSpPr>
          <p:cNvPr id="149" name="Oval 148"/>
          <p:cNvSpPr/>
          <p:nvPr/>
        </p:nvSpPr>
        <p:spPr>
          <a:xfrm>
            <a:off x="4242816" y="2953512"/>
            <a:ext cx="585216" cy="585216"/>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800" b="1">
                <a:solidFill>
                  <a:srgbClr val="FFFFFF"/>
                </a:solidFill>
                <a:latin typeface="Arial"/>
              </a:rPr>
              <a:t>✓</a:t>
            </a:r>
          </a:p>
        </p:txBody>
      </p:sp>
      <p:sp>
        <p:nvSpPr>
          <p:cNvPr id="150" name="TextBox 149"/>
          <p:cNvSpPr txBox="1"/>
          <p:nvPr/>
        </p:nvSpPr>
        <p:spPr>
          <a:xfrm>
            <a:off x="3163824" y="3657600"/>
            <a:ext cx="2743200" cy="411480"/>
          </a:xfrm>
          <a:prstGeom prst="rect">
            <a:avLst/>
          </a:prstGeom>
          <a:noFill/>
        </p:spPr>
        <p:txBody>
          <a:bodyPr wrap="square" lIns="0" rIns="0" tIns="0" bIns="0" anchor="t">
            <a:spAutoFit/>
          </a:bodyPr>
          <a:lstStyle/>
          <a:p>
            <a:pPr algn="ctr">
              <a:lnSpc>
                <a:spcPct val="105000"/>
              </a:lnSpc>
              <a:spcAft>
                <a:spcPts val="400"/>
              </a:spcAft>
            </a:pPr>
            <a:r>
              <a:rPr sz="1500" b="1" i="0">
                <a:solidFill>
                  <a:srgbClr val="1D1D1F"/>
                </a:solidFill>
                <a:latin typeface="Arial"/>
              </a:rPr>
              <a:t>Rover firmware</a:t>
            </a:r>
          </a:p>
        </p:txBody>
      </p:sp>
      <p:sp>
        <p:nvSpPr>
          <p:cNvPr id="151" name="Oval 150"/>
          <p:cNvSpPr/>
          <p:nvPr/>
        </p:nvSpPr>
        <p:spPr>
          <a:xfrm>
            <a:off x="7315200" y="2953512"/>
            <a:ext cx="585216" cy="585216"/>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800" b="1">
                <a:solidFill>
                  <a:srgbClr val="FFFFFF"/>
                </a:solidFill>
                <a:latin typeface="Arial"/>
              </a:rPr>
              <a:t>✓</a:t>
            </a:r>
          </a:p>
        </p:txBody>
      </p:sp>
      <p:sp>
        <p:nvSpPr>
          <p:cNvPr id="152" name="TextBox 151"/>
          <p:cNvSpPr txBox="1"/>
          <p:nvPr/>
        </p:nvSpPr>
        <p:spPr>
          <a:xfrm>
            <a:off x="6236208" y="3657600"/>
            <a:ext cx="2743200" cy="411480"/>
          </a:xfrm>
          <a:prstGeom prst="rect">
            <a:avLst/>
          </a:prstGeom>
          <a:noFill/>
        </p:spPr>
        <p:txBody>
          <a:bodyPr wrap="square" lIns="0" rIns="0" tIns="0" bIns="0" anchor="t">
            <a:spAutoFit/>
          </a:bodyPr>
          <a:lstStyle/>
          <a:p>
            <a:pPr algn="ctr">
              <a:lnSpc>
                <a:spcPct val="105000"/>
              </a:lnSpc>
              <a:spcAft>
                <a:spcPts val="400"/>
              </a:spcAft>
            </a:pPr>
            <a:r>
              <a:rPr sz="1500" b="1" i="0">
                <a:solidFill>
                  <a:srgbClr val="1D1D1F"/>
                </a:solidFill>
                <a:latin typeface="Arial"/>
              </a:rPr>
              <a:t>Wokwi simulation</a:t>
            </a:r>
          </a:p>
        </p:txBody>
      </p:sp>
      <p:sp>
        <p:nvSpPr>
          <p:cNvPr id="153" name="Oval 152"/>
          <p:cNvSpPr/>
          <p:nvPr/>
        </p:nvSpPr>
        <p:spPr>
          <a:xfrm>
            <a:off x="10387584" y="2953512"/>
            <a:ext cx="585216" cy="585216"/>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800" b="1">
                <a:solidFill>
                  <a:srgbClr val="FFFFFF"/>
                </a:solidFill>
                <a:latin typeface="Arial"/>
              </a:rPr>
              <a:t>✓</a:t>
            </a:r>
          </a:p>
        </p:txBody>
      </p:sp>
      <p:sp>
        <p:nvSpPr>
          <p:cNvPr id="154" name="TextBox 153"/>
          <p:cNvSpPr txBox="1"/>
          <p:nvPr/>
        </p:nvSpPr>
        <p:spPr>
          <a:xfrm>
            <a:off x="9308592" y="3657600"/>
            <a:ext cx="2743200" cy="411480"/>
          </a:xfrm>
          <a:prstGeom prst="rect">
            <a:avLst/>
          </a:prstGeom>
          <a:noFill/>
        </p:spPr>
        <p:txBody>
          <a:bodyPr wrap="square" lIns="0" rIns="0" tIns="0" bIns="0" anchor="t">
            <a:spAutoFit/>
          </a:bodyPr>
          <a:lstStyle/>
          <a:p>
            <a:pPr algn="ctr">
              <a:lnSpc>
                <a:spcPct val="105000"/>
              </a:lnSpc>
              <a:spcAft>
                <a:spcPts val="400"/>
              </a:spcAft>
            </a:pPr>
            <a:r>
              <a:rPr sz="1500" b="1" i="0">
                <a:solidFill>
                  <a:srgbClr val="1D1D1F"/>
                </a:solidFill>
                <a:latin typeface="Arial"/>
              </a:rPr>
              <a:t>3D rover twin</a:t>
            </a:r>
          </a:p>
        </p:txBody>
      </p:sp>
      <p:sp>
        <p:nvSpPr>
          <p:cNvPr id="155" name="Oval 154"/>
          <p:cNvSpPr/>
          <p:nvPr/>
        </p:nvSpPr>
        <p:spPr>
          <a:xfrm>
            <a:off x="13459967" y="2953512"/>
            <a:ext cx="585216" cy="585216"/>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800" b="1">
                <a:solidFill>
                  <a:srgbClr val="FFFFFF"/>
                </a:solidFill>
                <a:latin typeface="Arial"/>
              </a:rPr>
              <a:t>✓</a:t>
            </a:r>
          </a:p>
        </p:txBody>
      </p:sp>
      <p:sp>
        <p:nvSpPr>
          <p:cNvPr id="156" name="TextBox 155"/>
          <p:cNvSpPr txBox="1"/>
          <p:nvPr/>
        </p:nvSpPr>
        <p:spPr>
          <a:xfrm>
            <a:off x="12380976" y="3657600"/>
            <a:ext cx="2743200" cy="411480"/>
          </a:xfrm>
          <a:prstGeom prst="rect">
            <a:avLst/>
          </a:prstGeom>
          <a:noFill/>
        </p:spPr>
        <p:txBody>
          <a:bodyPr wrap="square" lIns="0" rIns="0" tIns="0" bIns="0" anchor="t">
            <a:spAutoFit/>
          </a:bodyPr>
          <a:lstStyle/>
          <a:p>
            <a:pPr algn="ctr">
              <a:lnSpc>
                <a:spcPct val="105000"/>
              </a:lnSpc>
              <a:spcAft>
                <a:spcPts val="400"/>
              </a:spcAft>
            </a:pPr>
            <a:r>
              <a:rPr sz="1500" b="1" i="0">
                <a:solidFill>
                  <a:srgbClr val="1D1D1F"/>
                </a:solidFill>
                <a:latin typeface="Arial"/>
              </a:rPr>
              <a:t>Walk mode + twin</a:t>
            </a:r>
          </a:p>
        </p:txBody>
      </p:sp>
      <p:sp>
        <p:nvSpPr>
          <p:cNvPr id="157" name="Oval 156"/>
          <p:cNvSpPr/>
          <p:nvPr/>
        </p:nvSpPr>
        <p:spPr>
          <a:xfrm>
            <a:off x="16532352" y="2953512"/>
            <a:ext cx="585216" cy="585216"/>
          </a:xfrm>
          <a:prstGeom prst="ellipse">
            <a:avLst/>
          </a:prstGeom>
          <a:solidFill>
            <a:srgbClr val="FFFFFF"/>
          </a:solidFill>
          <a:ln w="19050">
            <a:solidFill>
              <a:srgbClr val="D962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800" b="1">
                <a:solidFill>
                  <a:srgbClr val="D9622B"/>
                </a:solidFill>
                <a:latin typeface="Arial"/>
              </a:rPr>
              <a:t>→</a:t>
            </a:r>
          </a:p>
        </p:txBody>
      </p:sp>
      <p:sp>
        <p:nvSpPr>
          <p:cNvPr id="158" name="TextBox 157"/>
          <p:cNvSpPr txBox="1"/>
          <p:nvPr/>
        </p:nvSpPr>
        <p:spPr>
          <a:xfrm>
            <a:off x="15453360" y="3657600"/>
            <a:ext cx="2743200" cy="411480"/>
          </a:xfrm>
          <a:prstGeom prst="rect">
            <a:avLst/>
          </a:prstGeom>
          <a:noFill/>
        </p:spPr>
        <p:txBody>
          <a:bodyPr wrap="square" lIns="0" rIns="0" tIns="0" bIns="0" anchor="t">
            <a:spAutoFit/>
          </a:bodyPr>
          <a:lstStyle/>
          <a:p>
            <a:pPr algn="ctr">
              <a:lnSpc>
                <a:spcPct val="105000"/>
              </a:lnSpc>
              <a:spcAft>
                <a:spcPts val="400"/>
              </a:spcAft>
            </a:pPr>
            <a:r>
              <a:rPr sz="1500" b="1" i="0">
                <a:solidFill>
                  <a:srgbClr val="D9622B"/>
                </a:solidFill>
                <a:latin typeface="Arial"/>
              </a:rPr>
              <a:t>Physical rover</a:t>
            </a:r>
          </a:p>
        </p:txBody>
      </p:sp>
      <p:sp>
        <p:nvSpPr>
          <p:cNvPr id="159" name="Rounded Rectangle 158"/>
          <p:cNvSpPr/>
          <p:nvPr/>
        </p:nvSpPr>
        <p:spPr>
          <a:xfrm>
            <a:off x="685800" y="4343400"/>
            <a:ext cx="5486400" cy="1188720"/>
          </a:xfrm>
          <a:prstGeom prst="roundRect">
            <a:avLst>
              <a:gd name="adj" fmla="val 6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960120" y="4343400"/>
            <a:ext cx="2651760" cy="1188720"/>
          </a:xfrm>
          <a:prstGeom prst="rect">
            <a:avLst/>
          </a:prstGeom>
          <a:noFill/>
        </p:spPr>
        <p:txBody>
          <a:bodyPr wrap="square" lIns="0" rIns="0" tIns="0" bIns="0" anchor="ctr">
            <a:spAutoFit/>
          </a:bodyPr>
          <a:lstStyle/>
          <a:p>
            <a:pPr algn="l">
              <a:lnSpc>
                <a:spcPct val="105000"/>
              </a:lnSpc>
              <a:spcAft>
                <a:spcPts val="400"/>
              </a:spcAft>
            </a:pPr>
            <a:r>
              <a:rPr sz="2800" b="1" i="0">
                <a:solidFill>
                  <a:srgbClr val="D9622B"/>
                </a:solidFill>
                <a:latin typeface="Arial"/>
              </a:rPr>
              <a:t>30 / 30</a:t>
            </a:r>
          </a:p>
        </p:txBody>
      </p:sp>
      <p:sp>
        <p:nvSpPr>
          <p:cNvPr id="161" name="TextBox 160"/>
          <p:cNvSpPr txBox="1"/>
          <p:nvPr/>
        </p:nvSpPr>
        <p:spPr>
          <a:xfrm>
            <a:off x="3611880" y="4343400"/>
            <a:ext cx="2377440" cy="1188720"/>
          </a:xfrm>
          <a:prstGeom prst="rect">
            <a:avLst/>
          </a:prstGeom>
          <a:noFill/>
        </p:spPr>
        <p:txBody>
          <a:bodyPr wrap="square" lIns="0" rIns="0" tIns="0" bIns="0" anchor="ctr">
            <a:spAutoFit/>
          </a:bodyPr>
          <a:lstStyle/>
          <a:p>
            <a:pPr algn="l">
              <a:lnSpc>
                <a:spcPct val="105000"/>
              </a:lnSpc>
              <a:spcAft>
                <a:spcPts val="400"/>
              </a:spcAft>
            </a:pPr>
            <a:r>
              <a:rPr sz="1400" b="0" i="0">
                <a:solidFill>
                  <a:srgbClr val="2E4057"/>
                </a:solidFill>
                <a:latin typeface="Arial"/>
              </a:rPr>
              <a:t>3D twin missions reached the bottle</a:t>
            </a:r>
          </a:p>
        </p:txBody>
      </p:sp>
      <p:sp>
        <p:nvSpPr>
          <p:cNvPr id="162" name="Rounded Rectangle 161"/>
          <p:cNvSpPr/>
          <p:nvPr/>
        </p:nvSpPr>
        <p:spPr>
          <a:xfrm>
            <a:off x="6400800" y="4343400"/>
            <a:ext cx="5486400" cy="1188720"/>
          </a:xfrm>
          <a:prstGeom prst="roundRect">
            <a:avLst>
              <a:gd name="adj" fmla="val 6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6675120" y="4343400"/>
            <a:ext cx="2651760" cy="1188720"/>
          </a:xfrm>
          <a:prstGeom prst="rect">
            <a:avLst/>
          </a:prstGeom>
          <a:noFill/>
        </p:spPr>
        <p:txBody>
          <a:bodyPr wrap="square" lIns="0" rIns="0" tIns="0" bIns="0" anchor="ctr">
            <a:spAutoFit/>
          </a:bodyPr>
          <a:lstStyle/>
          <a:p>
            <a:pPr algn="l">
              <a:lnSpc>
                <a:spcPct val="105000"/>
              </a:lnSpc>
              <a:spcAft>
                <a:spcPts val="400"/>
              </a:spcAft>
            </a:pPr>
            <a:r>
              <a:rPr sz="2800" b="1" i="0">
                <a:solidFill>
                  <a:srgbClr val="D9622B"/>
                </a:solidFill>
                <a:latin typeface="Arial"/>
              </a:rPr>
              <a:t>8.6 s</a:t>
            </a:r>
          </a:p>
        </p:txBody>
      </p:sp>
      <p:sp>
        <p:nvSpPr>
          <p:cNvPr id="164" name="TextBox 163"/>
          <p:cNvSpPr txBox="1"/>
          <p:nvPr/>
        </p:nvSpPr>
        <p:spPr>
          <a:xfrm>
            <a:off x="9326880" y="4343400"/>
            <a:ext cx="2377440" cy="1188720"/>
          </a:xfrm>
          <a:prstGeom prst="rect">
            <a:avLst/>
          </a:prstGeom>
          <a:noFill/>
        </p:spPr>
        <p:txBody>
          <a:bodyPr wrap="square" lIns="0" rIns="0" tIns="0" bIns="0" anchor="ctr">
            <a:spAutoFit/>
          </a:bodyPr>
          <a:lstStyle/>
          <a:p>
            <a:pPr algn="l">
              <a:lnSpc>
                <a:spcPct val="105000"/>
              </a:lnSpc>
              <a:spcAft>
                <a:spcPts val="400"/>
              </a:spcAft>
            </a:pPr>
            <a:r>
              <a:rPr sz="1400" b="0" i="0">
                <a:solidFill>
                  <a:srgbClr val="2E4057"/>
                </a:solidFill>
                <a:latin typeface="Arial"/>
              </a:rPr>
              <a:t>real webcam run: goal to target, 3 obstacles avoided</a:t>
            </a:r>
          </a:p>
        </p:txBody>
      </p:sp>
      <p:sp>
        <p:nvSpPr>
          <p:cNvPr id="165" name="Rounded Rectangle 164"/>
          <p:cNvSpPr/>
          <p:nvPr/>
        </p:nvSpPr>
        <p:spPr>
          <a:xfrm>
            <a:off x="12115800" y="4343400"/>
            <a:ext cx="5486400" cy="1188720"/>
          </a:xfrm>
          <a:prstGeom prst="roundRect">
            <a:avLst>
              <a:gd name="adj" fmla="val 6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2390120" y="4343400"/>
            <a:ext cx="2651760" cy="1188720"/>
          </a:xfrm>
          <a:prstGeom prst="rect">
            <a:avLst/>
          </a:prstGeom>
          <a:noFill/>
        </p:spPr>
        <p:txBody>
          <a:bodyPr wrap="square" lIns="0" rIns="0" tIns="0" bIns="0" anchor="ctr">
            <a:spAutoFit/>
          </a:bodyPr>
          <a:lstStyle/>
          <a:p>
            <a:pPr algn="l">
              <a:lnSpc>
                <a:spcPct val="105000"/>
              </a:lnSpc>
              <a:spcAft>
                <a:spcPts val="400"/>
              </a:spcAft>
            </a:pPr>
            <a:r>
              <a:rPr sz="2800" b="1" i="0">
                <a:solidFill>
                  <a:srgbClr val="D9622B"/>
                </a:solidFill>
                <a:latin typeface="Arial"/>
              </a:rPr>
              <a:t>1,000 / 1,000</a:t>
            </a:r>
          </a:p>
        </p:txBody>
      </p:sp>
      <p:sp>
        <p:nvSpPr>
          <p:cNvPr id="167" name="TextBox 166"/>
          <p:cNvSpPr txBox="1"/>
          <p:nvPr/>
        </p:nvSpPr>
        <p:spPr>
          <a:xfrm>
            <a:off x="15041880" y="4343400"/>
            <a:ext cx="2377440" cy="1188720"/>
          </a:xfrm>
          <a:prstGeom prst="rect">
            <a:avLst/>
          </a:prstGeom>
          <a:noFill/>
        </p:spPr>
        <p:txBody>
          <a:bodyPr wrap="square" lIns="0" rIns="0" tIns="0" bIns="0" anchor="ctr">
            <a:spAutoFit/>
          </a:bodyPr>
          <a:lstStyle/>
          <a:p>
            <a:pPr algn="l">
              <a:lnSpc>
                <a:spcPct val="105000"/>
              </a:lnSpc>
              <a:spcAft>
                <a:spcPts val="400"/>
              </a:spcAft>
            </a:pPr>
            <a:r>
              <a:rPr sz="1400" b="0" i="0">
                <a:solidFill>
                  <a:srgbClr val="2E4057"/>
                </a:solidFill>
                <a:latin typeface="Arial"/>
              </a:rPr>
              <a:t>earlier warehouse simulation, 0 collisions</a:t>
            </a:r>
          </a:p>
        </p:txBody>
      </p:sp>
      <p:pic>
        <p:nvPicPr>
          <p:cNvPr id="168" name="Picture 167" descr="twin_auto.png"/>
          <p:cNvPicPr>
            <a:picLocks noChangeAspect="1"/>
          </p:cNvPicPr>
          <p:nvPr/>
        </p:nvPicPr>
        <p:blipFill>
          <a:blip r:embed="rId4"/>
          <a:stretch>
            <a:fillRect/>
          </a:stretch>
        </p:blipFill>
        <p:spPr>
          <a:xfrm>
            <a:off x="2045027" y="5852160"/>
            <a:ext cx="6421120" cy="3611880"/>
          </a:xfrm>
          <a:prstGeom prst="rect">
            <a:avLst/>
          </a:prstGeom>
          <a:ln w="12700">
            <a:solidFill>
              <a:srgbClr val="C9CDD3"/>
            </a:solidFill>
          </a:ln>
        </p:spPr>
      </p:pic>
      <p:sp>
        <p:nvSpPr>
          <p:cNvPr id="169" name="TextBox 168"/>
          <p:cNvSpPr txBox="1"/>
          <p:nvPr/>
        </p:nvSpPr>
        <p:spPr>
          <a:xfrm>
            <a:off x="2045027" y="9555480"/>
            <a:ext cx="6421120" cy="365760"/>
          </a:xfrm>
          <a:prstGeom prst="rect">
            <a:avLst/>
          </a:prstGeom>
          <a:noFill/>
        </p:spPr>
        <p:txBody>
          <a:bodyPr wrap="square" lIns="0" rIns="0" tIns="0" bIns="0" anchor="t">
            <a:spAutoFit/>
          </a:bodyPr>
          <a:lstStyle/>
          <a:p>
            <a:pPr algn="l">
              <a:lnSpc>
                <a:spcPct val="105000"/>
              </a:lnSpc>
              <a:spcAft>
                <a:spcPts val="400"/>
              </a:spcAft>
            </a:pPr>
            <a:r>
              <a:rPr sz="1200" b="0" i="0">
                <a:solidFill>
                  <a:srgbClr val="5B616E"/>
                </a:solidFill>
                <a:latin typeface="Arial"/>
              </a:rPr>
              <a:t>3D rover twin, mode 1: phone view, serial line and L298N pins</a:t>
            </a:r>
          </a:p>
        </p:txBody>
      </p:sp>
      <p:pic>
        <p:nvPicPr>
          <p:cNvPr id="170" name="Picture 169" descr="twin_exploded_crop.png"/>
          <p:cNvPicPr>
            <a:picLocks noChangeAspect="1"/>
          </p:cNvPicPr>
          <p:nvPr/>
        </p:nvPicPr>
        <p:blipFill>
          <a:blip r:embed="rId5"/>
          <a:stretch>
            <a:fillRect/>
          </a:stretch>
        </p:blipFill>
        <p:spPr>
          <a:xfrm>
            <a:off x="8786187" y="5852160"/>
            <a:ext cx="7456784" cy="3611880"/>
          </a:xfrm>
          <a:prstGeom prst="rect">
            <a:avLst/>
          </a:prstGeom>
          <a:ln w="12700">
            <a:solidFill>
              <a:srgbClr val="C9CDD3"/>
            </a:solidFill>
          </a:ln>
        </p:spPr>
      </p:pic>
      <p:sp>
        <p:nvSpPr>
          <p:cNvPr id="171" name="TextBox 170"/>
          <p:cNvSpPr txBox="1"/>
          <p:nvPr/>
        </p:nvSpPr>
        <p:spPr>
          <a:xfrm>
            <a:off x="8786187" y="9555480"/>
            <a:ext cx="7456784" cy="365760"/>
          </a:xfrm>
          <a:prstGeom prst="rect">
            <a:avLst/>
          </a:prstGeom>
          <a:noFill/>
        </p:spPr>
        <p:txBody>
          <a:bodyPr wrap="square" lIns="0" rIns="0" tIns="0" bIns="0" anchor="t">
            <a:spAutoFit/>
          </a:bodyPr>
          <a:lstStyle/>
          <a:p>
            <a:pPr algn="l">
              <a:lnSpc>
                <a:spcPct val="105000"/>
              </a:lnSpc>
              <a:spcAft>
                <a:spcPts val="400"/>
              </a:spcAft>
            </a:pPr>
            <a:r>
              <a:rPr sz="1200" b="0" i="0">
                <a:solidFill>
                  <a:srgbClr val="5B616E"/>
                </a:solidFill>
                <a:latin typeface="Arial"/>
              </a:rPr>
              <a:t>Exploded view: every part, with its job and pins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5" name="Google Shape;125;p17"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26" name="TextBox 125"/>
          <p:cNvSpPr txBox="1"/>
          <p:nvPr/>
        </p:nvSpPr>
        <p:spPr>
          <a:xfrm>
            <a:off x="685800" y="1417320"/>
            <a:ext cx="16916400" cy="685800"/>
          </a:xfrm>
          <a:prstGeom prst="rect">
            <a:avLst/>
          </a:prstGeom>
          <a:noFill/>
        </p:spPr>
        <p:txBody>
          <a:bodyPr wrap="square" lIns="0" rIns="0" tIns="0" bIns="0" anchor="t">
            <a:spAutoFit/>
          </a:bodyPr>
          <a:lstStyle/>
          <a:p>
            <a:pPr algn="l">
              <a:lnSpc>
                <a:spcPct val="105000"/>
              </a:lnSpc>
              <a:spcAft>
                <a:spcPts val="400"/>
              </a:spcAft>
            </a:pPr>
            <a:r>
              <a:rPr sz="3400" b="1" i="0">
                <a:solidFill>
                  <a:srgbClr val="1D1D1F"/>
                </a:solidFill>
                <a:latin typeface="Arial"/>
              </a:rPr>
              <a:t>MARKET RESEARCH / ANALYSIS</a:t>
            </a:r>
          </a:p>
        </p:txBody>
      </p:sp>
      <p:sp>
        <p:nvSpPr>
          <p:cNvPr id="127" name="TextBox 126"/>
          <p:cNvSpPr txBox="1"/>
          <p:nvPr/>
        </p:nvSpPr>
        <p:spPr>
          <a:xfrm>
            <a:off x="685800" y="2103120"/>
            <a:ext cx="16916400" cy="457200"/>
          </a:xfrm>
          <a:prstGeom prst="rect">
            <a:avLst/>
          </a:prstGeom>
          <a:noFill/>
        </p:spPr>
        <p:txBody>
          <a:bodyPr wrap="square" lIns="0" rIns="0" tIns="0" bIns="0" anchor="t">
            <a:spAutoFit/>
          </a:bodyPr>
          <a:lstStyle/>
          <a:p>
            <a:pPr algn="l">
              <a:lnSpc>
                <a:spcPct val="105000"/>
              </a:lnSpc>
              <a:spcAft>
                <a:spcPts val="400"/>
              </a:spcAft>
            </a:pPr>
            <a:r>
              <a:rPr sz="1800" b="0" i="0">
                <a:solidFill>
                  <a:srgbClr val="5B616E"/>
                </a:solidFill>
                <a:latin typeface="Arial"/>
              </a:rPr>
              <a:t>Mobile robots are spreading from big factories to smaller sites, and cost is what holds them back</a:t>
            </a:r>
          </a:p>
        </p:txBody>
      </p:sp>
      <p:graphicFrame>
        <p:nvGraphicFramePr>
          <p:cNvPr id="128" name="Chart 127"/>
          <p:cNvGraphicFramePr>
            <a:graphicFrameLocks noGrp="1"/>
          </p:cNvGraphicFramePr>
          <p:nvPr/>
        </p:nvGraphicFramePr>
        <p:xfrm>
          <a:off x="685800" y="2743200"/>
          <a:ext cx="6035040" cy="5852160"/>
        </p:xfrm>
        <a:graphic>
          <a:graphicData uri="http://schemas.openxmlformats.org/drawingml/2006/chart">
            <c:chart r:id="rId4"/>
          </a:graphicData>
        </a:graphic>
      </p:graphicFrame>
      <p:sp>
        <p:nvSpPr>
          <p:cNvPr id="129" name="TextBox 128"/>
          <p:cNvSpPr txBox="1"/>
          <p:nvPr/>
        </p:nvSpPr>
        <p:spPr>
          <a:xfrm>
            <a:off x="685800" y="8686800"/>
            <a:ext cx="6035040" cy="1005840"/>
          </a:xfrm>
          <a:prstGeom prst="rect">
            <a:avLst/>
          </a:prstGeom>
          <a:noFill/>
        </p:spPr>
        <p:txBody>
          <a:bodyPr wrap="square" lIns="0" rIns="0" tIns="0" bIns="0" anchor="t">
            <a:spAutoFit/>
          </a:bodyPr>
          <a:lstStyle/>
          <a:p>
            <a:pPr algn="l">
              <a:lnSpc>
                <a:spcPct val="105000"/>
              </a:lnSpc>
              <a:spcAft>
                <a:spcPts val="400"/>
              </a:spcAft>
            </a:pPr>
            <a:r>
              <a:rPr sz="1200" b="0" i="0">
                <a:solidFill>
                  <a:srgbClr val="5B616E"/>
                </a:solidFill>
                <a:latin typeface="Arial"/>
              </a:rPr>
              <a:t>21.8% a year (2022–2032). Source: Allied Market Research. Other firms forecast less, e.g. MarketsandMarkets $7.1B by 2032.</a:t>
            </a:r>
          </a:p>
        </p:txBody>
      </p:sp>
      <p:sp>
        <p:nvSpPr>
          <p:cNvPr id="130" name="TextBox 129"/>
          <p:cNvSpPr txBox="1"/>
          <p:nvPr/>
        </p:nvSpPr>
        <p:spPr>
          <a:xfrm>
            <a:off x="7223760" y="2743200"/>
            <a:ext cx="4937760" cy="411480"/>
          </a:xfrm>
          <a:prstGeom prst="rect">
            <a:avLst/>
          </a:prstGeom>
          <a:noFill/>
        </p:spPr>
        <p:txBody>
          <a:bodyPr wrap="square" lIns="0" rIns="0" tIns="0" bIns="0" anchor="t">
            <a:spAutoFit/>
          </a:bodyPr>
          <a:lstStyle/>
          <a:p>
            <a:pPr algn="l">
              <a:lnSpc>
                <a:spcPct val="105000"/>
              </a:lnSpc>
              <a:spcAft>
                <a:spcPts val="400"/>
              </a:spcAft>
            </a:pPr>
            <a:r>
              <a:rPr sz="2000" b="1" i="0">
                <a:solidFill>
                  <a:srgbClr val="1D1D1F"/>
                </a:solidFill>
                <a:latin typeface="Arial"/>
              </a:rPr>
              <a:t>Target users</a:t>
            </a:r>
          </a:p>
        </p:txBody>
      </p:sp>
      <p:sp>
        <p:nvSpPr>
          <p:cNvPr id="131" name="Oval 130"/>
          <p:cNvSpPr/>
          <p:nvPr/>
        </p:nvSpPr>
        <p:spPr>
          <a:xfrm>
            <a:off x="7223760" y="3383280"/>
            <a:ext cx="640080" cy="64008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2" name="Picture 131" descr="FaGraduationCap.png"/>
          <p:cNvPicPr>
            <a:picLocks noChangeAspect="1"/>
          </p:cNvPicPr>
          <p:nvPr/>
        </p:nvPicPr>
        <p:blipFill>
          <a:blip r:embed="rId5"/>
          <a:stretch>
            <a:fillRect/>
          </a:stretch>
        </p:blipFill>
        <p:spPr>
          <a:xfrm>
            <a:off x="7377379" y="3536899"/>
            <a:ext cx="332841" cy="332841"/>
          </a:xfrm>
          <a:prstGeom prst="rect">
            <a:avLst/>
          </a:prstGeom>
        </p:spPr>
      </p:pic>
      <p:sp>
        <p:nvSpPr>
          <p:cNvPr id="133" name="TextBox 132"/>
          <p:cNvSpPr txBox="1"/>
          <p:nvPr/>
        </p:nvSpPr>
        <p:spPr>
          <a:xfrm>
            <a:off x="8046720" y="3364992"/>
            <a:ext cx="4206240" cy="68580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Colleges and labs</a:t>
            </a:r>
          </a:p>
          <a:p>
            <a:pPr algn="l">
              <a:lnSpc>
                <a:spcPct val="105000"/>
              </a:lnSpc>
              <a:spcAft>
                <a:spcPts val="100"/>
              </a:spcAft>
            </a:pPr>
            <a:r>
              <a:rPr sz="1400" b="0" i="0">
                <a:solidFill>
                  <a:srgbClr val="5B616E"/>
                </a:solidFill>
                <a:latin typeface="Arial"/>
              </a:rPr>
              <a:t>low-cost autonomy kit</a:t>
            </a:r>
          </a:p>
        </p:txBody>
      </p:sp>
      <p:sp>
        <p:nvSpPr>
          <p:cNvPr id="134" name="Oval 133"/>
          <p:cNvSpPr/>
          <p:nvPr/>
        </p:nvSpPr>
        <p:spPr>
          <a:xfrm>
            <a:off x="7223760" y="4645152"/>
            <a:ext cx="640080" cy="64008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5" name="Picture 134" descr="FaWarehouse.png"/>
          <p:cNvPicPr>
            <a:picLocks noChangeAspect="1"/>
          </p:cNvPicPr>
          <p:nvPr/>
        </p:nvPicPr>
        <p:blipFill>
          <a:blip r:embed="rId6"/>
          <a:stretch>
            <a:fillRect/>
          </a:stretch>
        </p:blipFill>
        <p:spPr>
          <a:xfrm>
            <a:off x="7377379" y="4798771"/>
            <a:ext cx="332841" cy="332841"/>
          </a:xfrm>
          <a:prstGeom prst="rect">
            <a:avLst/>
          </a:prstGeom>
        </p:spPr>
      </p:pic>
      <p:sp>
        <p:nvSpPr>
          <p:cNvPr id="136" name="TextBox 135"/>
          <p:cNvSpPr txBox="1"/>
          <p:nvPr/>
        </p:nvSpPr>
        <p:spPr>
          <a:xfrm>
            <a:off x="8046720" y="4626864"/>
            <a:ext cx="4206240" cy="68580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Small warehouses</a:t>
            </a:r>
          </a:p>
          <a:p>
            <a:pPr algn="l">
              <a:lnSpc>
                <a:spcPct val="105000"/>
              </a:lnSpc>
              <a:spcAft>
                <a:spcPts val="100"/>
              </a:spcAft>
            </a:pPr>
            <a:r>
              <a:rPr sz="1400" b="0" i="0">
                <a:solidFill>
                  <a:srgbClr val="5B616E"/>
                </a:solidFill>
                <a:latin typeface="Arial"/>
              </a:rPr>
              <a:t>fetch without a mapping job</a:t>
            </a:r>
          </a:p>
        </p:txBody>
      </p:sp>
      <p:sp>
        <p:nvSpPr>
          <p:cNvPr id="137" name="Oval 136"/>
          <p:cNvSpPr/>
          <p:nvPr/>
        </p:nvSpPr>
        <p:spPr>
          <a:xfrm>
            <a:off x="7223760" y="5907024"/>
            <a:ext cx="640080" cy="64008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8" name="Picture 137" descr="FaHospital.png"/>
          <p:cNvPicPr>
            <a:picLocks noChangeAspect="1"/>
          </p:cNvPicPr>
          <p:nvPr/>
        </p:nvPicPr>
        <p:blipFill>
          <a:blip r:embed="rId7"/>
          <a:stretch>
            <a:fillRect/>
          </a:stretch>
        </p:blipFill>
        <p:spPr>
          <a:xfrm>
            <a:off x="7377379" y="6060643"/>
            <a:ext cx="332841" cy="332841"/>
          </a:xfrm>
          <a:prstGeom prst="rect">
            <a:avLst/>
          </a:prstGeom>
        </p:spPr>
      </p:pic>
      <p:sp>
        <p:nvSpPr>
          <p:cNvPr id="139" name="TextBox 138"/>
          <p:cNvSpPr txBox="1"/>
          <p:nvPr/>
        </p:nvSpPr>
        <p:spPr>
          <a:xfrm>
            <a:off x="8046720" y="5888736"/>
            <a:ext cx="4206240" cy="68580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Hospitals</a:t>
            </a:r>
          </a:p>
          <a:p>
            <a:pPr algn="l">
              <a:lnSpc>
                <a:spcPct val="105000"/>
              </a:lnSpc>
              <a:spcAft>
                <a:spcPts val="100"/>
              </a:spcAft>
            </a:pPr>
            <a:r>
              <a:rPr sz="1400" b="0" i="0">
                <a:solidFill>
                  <a:srgbClr val="5B616E"/>
                </a:solidFill>
                <a:latin typeface="Arial"/>
              </a:rPr>
              <a:t>move supplies around people</a:t>
            </a:r>
          </a:p>
        </p:txBody>
      </p:sp>
      <p:sp>
        <p:nvSpPr>
          <p:cNvPr id="140" name="Oval 139"/>
          <p:cNvSpPr/>
          <p:nvPr/>
        </p:nvSpPr>
        <p:spPr>
          <a:xfrm>
            <a:off x="7223760" y="7168896"/>
            <a:ext cx="640080" cy="64008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1" name="Picture 140" descr="FaIndustry.png"/>
          <p:cNvPicPr>
            <a:picLocks noChangeAspect="1"/>
          </p:cNvPicPr>
          <p:nvPr/>
        </p:nvPicPr>
        <p:blipFill>
          <a:blip r:embed="rId8"/>
          <a:stretch>
            <a:fillRect/>
          </a:stretch>
        </p:blipFill>
        <p:spPr>
          <a:xfrm>
            <a:off x="7377379" y="7322515"/>
            <a:ext cx="332841" cy="332841"/>
          </a:xfrm>
          <a:prstGeom prst="rect">
            <a:avLst/>
          </a:prstGeom>
        </p:spPr>
      </p:pic>
      <p:sp>
        <p:nvSpPr>
          <p:cNvPr id="142" name="TextBox 141"/>
          <p:cNvSpPr txBox="1"/>
          <p:nvPr/>
        </p:nvSpPr>
        <p:spPr>
          <a:xfrm>
            <a:off x="8046720" y="7150608"/>
            <a:ext cx="4206240" cy="68580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Factories</a:t>
            </a:r>
          </a:p>
          <a:p>
            <a:pPr algn="l">
              <a:lnSpc>
                <a:spcPct val="105000"/>
              </a:lnSpc>
              <a:spcAft>
                <a:spcPts val="100"/>
              </a:spcAft>
            </a:pPr>
            <a:r>
              <a:rPr sz="1400" b="0" i="0">
                <a:solidFill>
                  <a:srgbClr val="5B616E"/>
                </a:solidFill>
                <a:latin typeface="Arial"/>
              </a:rPr>
              <a:t>shuttle parts between stations</a:t>
            </a:r>
          </a:p>
        </p:txBody>
      </p:sp>
      <p:sp>
        <p:nvSpPr>
          <p:cNvPr id="143" name="Oval 142"/>
          <p:cNvSpPr/>
          <p:nvPr/>
        </p:nvSpPr>
        <p:spPr>
          <a:xfrm>
            <a:off x="7223760" y="8430767"/>
            <a:ext cx="640080" cy="64008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4" name="Picture 143" descr="FaUsers.png"/>
          <p:cNvPicPr>
            <a:picLocks noChangeAspect="1"/>
          </p:cNvPicPr>
          <p:nvPr/>
        </p:nvPicPr>
        <p:blipFill>
          <a:blip r:embed="rId9"/>
          <a:stretch>
            <a:fillRect/>
          </a:stretch>
        </p:blipFill>
        <p:spPr>
          <a:xfrm>
            <a:off x="7377379" y="8584387"/>
            <a:ext cx="332841" cy="332841"/>
          </a:xfrm>
          <a:prstGeom prst="rect">
            <a:avLst/>
          </a:prstGeom>
        </p:spPr>
      </p:pic>
      <p:sp>
        <p:nvSpPr>
          <p:cNvPr id="145" name="TextBox 144"/>
          <p:cNvSpPr txBox="1"/>
          <p:nvPr/>
        </p:nvSpPr>
        <p:spPr>
          <a:xfrm>
            <a:off x="8046720" y="8412480"/>
            <a:ext cx="4206240" cy="68580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Visually impaired users</a:t>
            </a:r>
          </a:p>
          <a:p>
            <a:pPr algn="l">
              <a:lnSpc>
                <a:spcPct val="105000"/>
              </a:lnSpc>
              <a:spcAft>
                <a:spcPts val="100"/>
              </a:spcAft>
            </a:pPr>
            <a:r>
              <a:rPr sz="1400" b="0" i="0">
                <a:solidFill>
                  <a:srgbClr val="5B616E"/>
                </a:solidFill>
                <a:latin typeface="Arial"/>
              </a:rPr>
              <a:t>walk mode: voice guidance</a:t>
            </a:r>
          </a:p>
        </p:txBody>
      </p:sp>
      <p:sp>
        <p:nvSpPr>
          <p:cNvPr id="146" name="Rounded Rectangle 145"/>
          <p:cNvSpPr/>
          <p:nvPr/>
        </p:nvSpPr>
        <p:spPr>
          <a:xfrm>
            <a:off x="12573000" y="2743200"/>
            <a:ext cx="5029200" cy="70408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2893040" y="2971800"/>
            <a:ext cx="4480560" cy="411480"/>
          </a:xfrm>
          <a:prstGeom prst="rect">
            <a:avLst/>
          </a:prstGeom>
          <a:noFill/>
        </p:spPr>
        <p:txBody>
          <a:bodyPr wrap="square" lIns="0" rIns="0" tIns="0" bIns="0" anchor="t">
            <a:spAutoFit/>
          </a:bodyPr>
          <a:lstStyle/>
          <a:p>
            <a:pPr algn="l">
              <a:lnSpc>
                <a:spcPct val="105000"/>
              </a:lnSpc>
              <a:spcAft>
                <a:spcPts val="400"/>
              </a:spcAft>
            </a:pPr>
            <a:r>
              <a:rPr sz="2000" b="1" i="0">
                <a:solidFill>
                  <a:srgbClr val="1D1D1F"/>
                </a:solidFill>
                <a:latin typeface="Arial"/>
              </a:rPr>
              <a:t>Revenue model</a:t>
            </a:r>
          </a:p>
        </p:txBody>
      </p:sp>
      <p:sp>
        <p:nvSpPr>
          <p:cNvPr id="148" name="Oval 147"/>
          <p:cNvSpPr/>
          <p:nvPr/>
        </p:nvSpPr>
        <p:spPr>
          <a:xfrm>
            <a:off x="12893040" y="3657600"/>
            <a:ext cx="502920" cy="50292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1</a:t>
            </a:r>
          </a:p>
        </p:txBody>
      </p:sp>
      <p:sp>
        <p:nvSpPr>
          <p:cNvPr id="149" name="TextBox 148"/>
          <p:cNvSpPr txBox="1"/>
          <p:nvPr/>
        </p:nvSpPr>
        <p:spPr>
          <a:xfrm>
            <a:off x="13578840" y="3639312"/>
            <a:ext cx="3840480" cy="118872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Education kits</a:t>
            </a:r>
          </a:p>
          <a:p>
            <a:pPr algn="l">
              <a:lnSpc>
                <a:spcPct val="105000"/>
              </a:lnSpc>
              <a:spcAft>
                <a:spcPts val="100"/>
              </a:spcAft>
            </a:pPr>
            <a:r>
              <a:rPr sz="1400" b="0" i="0">
                <a:solidFill>
                  <a:srgbClr val="2E4057"/>
                </a:solidFill>
                <a:latin typeface="Arial"/>
              </a:rPr>
              <a:t>rover + software for colleges (first market)</a:t>
            </a:r>
          </a:p>
        </p:txBody>
      </p:sp>
      <p:cxnSp>
        <p:nvCxnSpPr>
          <p:cNvPr id="150" name="Connector 149"/>
          <p:cNvCxnSpPr/>
          <p:nvPr/>
        </p:nvCxnSpPr>
        <p:spPr>
          <a:xfrm>
            <a:off x="13144500" y="4206240"/>
            <a:ext cx="0" cy="868680"/>
          </a:xfrm>
          <a:prstGeom prst="line">
            <a:avLst/>
          </a:prstGeom>
          <a:ln w="25400">
            <a:solidFill>
              <a:srgbClr val="C9CDD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1" name="Oval 150"/>
          <p:cNvSpPr/>
          <p:nvPr/>
        </p:nvSpPr>
        <p:spPr>
          <a:xfrm>
            <a:off x="12893040" y="5120640"/>
            <a:ext cx="502920" cy="50292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2</a:t>
            </a:r>
          </a:p>
        </p:txBody>
      </p:sp>
      <p:sp>
        <p:nvSpPr>
          <p:cNvPr id="152" name="TextBox 151"/>
          <p:cNvSpPr txBox="1"/>
          <p:nvPr/>
        </p:nvSpPr>
        <p:spPr>
          <a:xfrm>
            <a:off x="13578840" y="5102352"/>
            <a:ext cx="3840480" cy="118872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Software licence</a:t>
            </a:r>
          </a:p>
          <a:p>
            <a:pPr algn="l">
              <a:lnSpc>
                <a:spcPct val="105000"/>
              </a:lnSpc>
              <a:spcAft>
                <a:spcPts val="100"/>
              </a:spcAft>
            </a:pPr>
            <a:r>
              <a:rPr sz="1400" b="0" i="0">
                <a:solidFill>
                  <a:srgbClr val="2E4057"/>
                </a:solidFill>
                <a:latin typeface="Arial"/>
              </a:rPr>
              <a:t>vision navigation for existing robots</a:t>
            </a:r>
          </a:p>
        </p:txBody>
      </p:sp>
      <p:cxnSp>
        <p:nvCxnSpPr>
          <p:cNvPr id="153" name="Connector 152"/>
          <p:cNvCxnSpPr/>
          <p:nvPr/>
        </p:nvCxnSpPr>
        <p:spPr>
          <a:xfrm>
            <a:off x="13144500" y="5669279"/>
            <a:ext cx="0" cy="868680"/>
          </a:xfrm>
          <a:prstGeom prst="line">
            <a:avLst/>
          </a:prstGeom>
          <a:ln w="25400">
            <a:solidFill>
              <a:srgbClr val="C9CDD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4" name="Oval 153"/>
          <p:cNvSpPr/>
          <p:nvPr/>
        </p:nvSpPr>
        <p:spPr>
          <a:xfrm>
            <a:off x="12893040" y="6583680"/>
            <a:ext cx="502920" cy="50292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3</a:t>
            </a:r>
          </a:p>
        </p:txBody>
      </p:sp>
      <p:sp>
        <p:nvSpPr>
          <p:cNvPr id="155" name="TextBox 154"/>
          <p:cNvSpPr txBox="1"/>
          <p:nvPr/>
        </p:nvSpPr>
        <p:spPr>
          <a:xfrm>
            <a:off x="13578840" y="6565392"/>
            <a:ext cx="3840480" cy="118872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Custom training</a:t>
            </a:r>
          </a:p>
          <a:p>
            <a:pPr algn="l">
              <a:lnSpc>
                <a:spcPct val="105000"/>
              </a:lnSpc>
              <a:spcAft>
                <a:spcPts val="100"/>
              </a:spcAft>
            </a:pPr>
            <a:r>
              <a:rPr sz="1400" b="0" i="0">
                <a:solidFill>
                  <a:srgbClr val="2E4057"/>
                </a:solidFill>
                <a:latin typeface="Arial"/>
              </a:rPr>
              <a:t>detect a client's own objects</a:t>
            </a:r>
          </a:p>
        </p:txBody>
      </p:sp>
      <p:cxnSp>
        <p:nvCxnSpPr>
          <p:cNvPr id="156" name="Connector 155"/>
          <p:cNvCxnSpPr/>
          <p:nvPr/>
        </p:nvCxnSpPr>
        <p:spPr>
          <a:xfrm>
            <a:off x="13144500" y="7132320"/>
            <a:ext cx="0" cy="868680"/>
          </a:xfrm>
          <a:prstGeom prst="line">
            <a:avLst/>
          </a:prstGeom>
          <a:ln w="25400">
            <a:solidFill>
              <a:srgbClr val="C9CDD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7" name="Oval 156"/>
          <p:cNvSpPr/>
          <p:nvPr/>
        </p:nvSpPr>
        <p:spPr>
          <a:xfrm>
            <a:off x="12893040" y="8046720"/>
            <a:ext cx="502920" cy="502920"/>
          </a:xfrm>
          <a:prstGeom prst="ellipse">
            <a:avLst/>
          </a:prstGeom>
          <a:solidFill>
            <a:srgbClr val="D962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square"/>
          <a:lstStyle/>
          <a:p>
            <a:pPr algn="ctr"/>
            <a:r>
              <a:rPr sz="1500" b="1">
                <a:solidFill>
                  <a:srgbClr val="FFFFFF"/>
                </a:solidFill>
                <a:latin typeface="Arial"/>
              </a:rPr>
              <a:t>4</a:t>
            </a:r>
          </a:p>
        </p:txBody>
      </p:sp>
      <p:sp>
        <p:nvSpPr>
          <p:cNvPr id="158" name="TextBox 157"/>
          <p:cNvSpPr txBox="1"/>
          <p:nvPr/>
        </p:nvSpPr>
        <p:spPr>
          <a:xfrm>
            <a:off x="13578840" y="8028432"/>
            <a:ext cx="3840480" cy="1188720"/>
          </a:xfrm>
          <a:prstGeom prst="rect">
            <a:avLst/>
          </a:prstGeom>
          <a:noFill/>
        </p:spPr>
        <p:txBody>
          <a:bodyPr wrap="square" lIns="0" rIns="0" tIns="0" bIns="0" anchor="t">
            <a:spAutoFit/>
          </a:bodyPr>
          <a:lstStyle/>
          <a:p>
            <a:pPr algn="l">
              <a:lnSpc>
                <a:spcPct val="105000"/>
              </a:lnSpc>
              <a:spcAft>
                <a:spcPts val="100"/>
              </a:spcAft>
            </a:pPr>
            <a:r>
              <a:rPr sz="1600" b="1" i="0">
                <a:solidFill>
                  <a:srgbClr val="1D1D1F"/>
                </a:solidFill>
                <a:latin typeface="Arial"/>
              </a:rPr>
              <a:t>Fleet dashboard</a:t>
            </a:r>
          </a:p>
          <a:p>
            <a:pPr algn="l">
              <a:lnSpc>
                <a:spcPct val="105000"/>
              </a:lnSpc>
              <a:spcAft>
                <a:spcPts val="100"/>
              </a:spcAft>
            </a:pPr>
            <a:r>
              <a:rPr sz="1400" b="0" i="0">
                <a:solidFill>
                  <a:srgbClr val="2E4057"/>
                </a:solidFill>
                <a:latin typeface="Arial"/>
              </a:rPr>
              <a:t>monthly subscription</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4" name="Google Shape;134;p18"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35" name="TextBox 134"/>
          <p:cNvSpPr txBox="1"/>
          <p:nvPr/>
        </p:nvSpPr>
        <p:spPr>
          <a:xfrm>
            <a:off x="685800" y="1417320"/>
            <a:ext cx="16916400" cy="685800"/>
          </a:xfrm>
          <a:prstGeom prst="rect">
            <a:avLst/>
          </a:prstGeom>
          <a:noFill/>
        </p:spPr>
        <p:txBody>
          <a:bodyPr wrap="square" lIns="0" rIns="0" tIns="0" bIns="0" anchor="t">
            <a:spAutoFit/>
          </a:bodyPr>
          <a:lstStyle/>
          <a:p>
            <a:pPr algn="l">
              <a:lnSpc>
                <a:spcPct val="105000"/>
              </a:lnSpc>
              <a:spcAft>
                <a:spcPts val="400"/>
              </a:spcAft>
            </a:pPr>
            <a:r>
              <a:rPr sz="3400" b="1" i="0">
                <a:solidFill>
                  <a:srgbClr val="1D1D1F"/>
                </a:solidFill>
                <a:latin typeface="Arial"/>
              </a:rPr>
              <a:t>FUTURE SCOPE</a:t>
            </a:r>
          </a:p>
        </p:txBody>
      </p:sp>
      <p:sp>
        <p:nvSpPr>
          <p:cNvPr id="136" name="TextBox 135"/>
          <p:cNvSpPr txBox="1"/>
          <p:nvPr/>
        </p:nvSpPr>
        <p:spPr>
          <a:xfrm>
            <a:off x="685800" y="2103120"/>
            <a:ext cx="16916400" cy="457200"/>
          </a:xfrm>
          <a:prstGeom prst="rect">
            <a:avLst/>
          </a:prstGeom>
          <a:noFill/>
        </p:spPr>
        <p:txBody>
          <a:bodyPr wrap="square" lIns="0" rIns="0" tIns="0" bIns="0" anchor="t">
            <a:spAutoFit/>
          </a:bodyPr>
          <a:lstStyle/>
          <a:p>
            <a:pPr algn="l">
              <a:lnSpc>
                <a:spcPct val="105000"/>
              </a:lnSpc>
              <a:spcAft>
                <a:spcPts val="400"/>
              </a:spcAft>
            </a:pPr>
            <a:r>
              <a:rPr sz="1800" b="0" i="0">
                <a:solidFill>
                  <a:srgbClr val="5B616E"/>
                </a:solidFill>
                <a:latin typeface="Arial"/>
              </a:rPr>
              <a:t>From simulation to a real rover, then to any object and many robots</a:t>
            </a:r>
          </a:p>
        </p:txBody>
      </p:sp>
      <p:cxnSp>
        <p:nvCxnSpPr>
          <p:cNvPr id="137" name="Connector 136"/>
          <p:cNvCxnSpPr/>
          <p:nvPr/>
        </p:nvCxnSpPr>
        <p:spPr>
          <a:xfrm>
            <a:off x="822960" y="3246120"/>
            <a:ext cx="16642080" cy="0"/>
          </a:xfrm>
          <a:prstGeom prst="line">
            <a:avLst/>
          </a:prstGeom>
          <a:ln w="50800">
            <a:solidFill>
              <a:srgbClr val="C9CDD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 name="Oval 137"/>
          <p:cNvSpPr/>
          <p:nvPr/>
        </p:nvSpPr>
        <p:spPr>
          <a:xfrm>
            <a:off x="2286000" y="2788920"/>
            <a:ext cx="914400" cy="914400"/>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9" name="Picture 138" descr="FaCheck.png"/>
          <p:cNvPicPr>
            <a:picLocks noChangeAspect="1"/>
          </p:cNvPicPr>
          <p:nvPr/>
        </p:nvPicPr>
        <p:blipFill>
          <a:blip r:embed="rId4"/>
          <a:stretch>
            <a:fillRect/>
          </a:stretch>
        </p:blipFill>
        <p:spPr>
          <a:xfrm>
            <a:off x="2505456" y="3008376"/>
            <a:ext cx="475488" cy="475488"/>
          </a:xfrm>
          <a:prstGeom prst="rect">
            <a:avLst/>
          </a:prstGeom>
        </p:spPr>
      </p:pic>
      <p:sp>
        <p:nvSpPr>
          <p:cNvPr id="140" name="Rounded Rectangle 139"/>
          <p:cNvSpPr/>
          <p:nvPr/>
        </p:nvSpPr>
        <p:spPr>
          <a:xfrm>
            <a:off x="685800" y="4069080"/>
            <a:ext cx="3977639" cy="4206240"/>
          </a:xfrm>
          <a:prstGeom prst="roundRect">
            <a:avLst>
              <a:gd name="adj" fmla="val 6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60120" y="4297680"/>
            <a:ext cx="3474720" cy="457200"/>
          </a:xfrm>
          <a:prstGeom prst="rect">
            <a:avLst/>
          </a:prstGeom>
          <a:noFill/>
        </p:spPr>
        <p:txBody>
          <a:bodyPr wrap="square" lIns="0" rIns="0" tIns="0" bIns="0" anchor="t">
            <a:spAutoFit/>
          </a:bodyPr>
          <a:lstStyle/>
          <a:p>
            <a:pPr algn="l">
              <a:lnSpc>
                <a:spcPct val="105000"/>
              </a:lnSpc>
              <a:spcAft>
                <a:spcPts val="400"/>
              </a:spcAft>
            </a:pPr>
            <a:r>
              <a:rPr sz="2000" b="1" i="0">
                <a:solidFill>
                  <a:srgbClr val="1E8E5A"/>
                </a:solidFill>
                <a:latin typeface="Arial"/>
              </a:rPr>
              <a:t>NOW</a:t>
            </a:r>
            <a:r>
              <a:rPr sz="2000" b="0" i="0">
                <a:solidFill>
                  <a:srgbClr val="5B616E"/>
                </a:solidFill>
                <a:latin typeface="Arial"/>
              </a:rPr>
              <a:t>  ·  Oct 2026</a:t>
            </a:r>
          </a:p>
        </p:txBody>
      </p:sp>
      <p:sp>
        <p:nvSpPr>
          <p:cNvPr id="142" name="Oval 141"/>
          <p:cNvSpPr/>
          <p:nvPr/>
        </p:nvSpPr>
        <p:spPr>
          <a:xfrm>
            <a:off x="978408" y="5093208"/>
            <a:ext cx="146304" cy="146304"/>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280160" y="498348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YOLO26 Vision Brain</a:t>
            </a:r>
          </a:p>
        </p:txBody>
      </p:sp>
      <p:sp>
        <p:nvSpPr>
          <p:cNvPr id="144" name="Oval 143"/>
          <p:cNvSpPr/>
          <p:nvPr/>
        </p:nvSpPr>
        <p:spPr>
          <a:xfrm>
            <a:off x="978408" y="6144768"/>
            <a:ext cx="146304" cy="146304"/>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1280160" y="603504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Firmware in Wokwi</a:t>
            </a:r>
          </a:p>
        </p:txBody>
      </p:sp>
      <p:sp>
        <p:nvSpPr>
          <p:cNvPr id="146" name="Oval 145"/>
          <p:cNvSpPr/>
          <p:nvPr/>
        </p:nvSpPr>
        <p:spPr>
          <a:xfrm>
            <a:off x="978408" y="7196328"/>
            <a:ext cx="146304" cy="146304"/>
          </a:xfrm>
          <a:prstGeom prst="ellipse">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280160" y="708660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3D rover twin, walk mode</a:t>
            </a:r>
          </a:p>
        </p:txBody>
      </p:sp>
      <p:sp>
        <p:nvSpPr>
          <p:cNvPr id="148" name="Oval 147"/>
          <p:cNvSpPr/>
          <p:nvPr/>
        </p:nvSpPr>
        <p:spPr>
          <a:xfrm>
            <a:off x="6583680" y="2788920"/>
            <a:ext cx="914400" cy="91440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9" name="Picture 148" descr="FaCogs.png"/>
          <p:cNvPicPr>
            <a:picLocks noChangeAspect="1"/>
          </p:cNvPicPr>
          <p:nvPr/>
        </p:nvPicPr>
        <p:blipFill>
          <a:blip r:embed="rId5"/>
          <a:stretch>
            <a:fillRect/>
          </a:stretch>
        </p:blipFill>
        <p:spPr>
          <a:xfrm>
            <a:off x="6803136" y="3008376"/>
            <a:ext cx="475488" cy="475488"/>
          </a:xfrm>
          <a:prstGeom prst="rect">
            <a:avLst/>
          </a:prstGeom>
        </p:spPr>
      </p:pic>
      <p:sp>
        <p:nvSpPr>
          <p:cNvPr id="150" name="Rounded Rectangle 149"/>
          <p:cNvSpPr/>
          <p:nvPr/>
        </p:nvSpPr>
        <p:spPr>
          <a:xfrm>
            <a:off x="4983480" y="4069080"/>
            <a:ext cx="3977639" cy="42062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257800" y="4297680"/>
            <a:ext cx="3474720" cy="457200"/>
          </a:xfrm>
          <a:prstGeom prst="rect">
            <a:avLst/>
          </a:prstGeom>
          <a:noFill/>
        </p:spPr>
        <p:txBody>
          <a:bodyPr wrap="square" lIns="0" rIns="0" tIns="0" bIns="0" anchor="t">
            <a:spAutoFit/>
          </a:bodyPr>
          <a:lstStyle/>
          <a:p>
            <a:pPr algn="l">
              <a:lnSpc>
                <a:spcPct val="105000"/>
              </a:lnSpc>
              <a:spcAft>
                <a:spcPts val="400"/>
              </a:spcAft>
            </a:pPr>
            <a:r>
              <a:rPr sz="2000" b="1" i="0">
                <a:solidFill>
                  <a:srgbClr val="D9622B"/>
                </a:solidFill>
                <a:latin typeface="Arial"/>
              </a:rPr>
              <a:t>NEXT</a:t>
            </a:r>
            <a:r>
              <a:rPr sz="2000" b="0" i="0">
                <a:solidFill>
                  <a:srgbClr val="5B616E"/>
                </a:solidFill>
                <a:latin typeface="Arial"/>
              </a:rPr>
              <a:t>  ·  Build</a:t>
            </a:r>
          </a:p>
        </p:txBody>
      </p:sp>
      <p:sp>
        <p:nvSpPr>
          <p:cNvPr id="152" name="Oval 151"/>
          <p:cNvSpPr/>
          <p:nvPr/>
        </p:nvSpPr>
        <p:spPr>
          <a:xfrm>
            <a:off x="5276088" y="5093208"/>
            <a:ext cx="146304" cy="146304"/>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577840" y="498348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Assemble the ₹1,500 rover</a:t>
            </a:r>
          </a:p>
        </p:txBody>
      </p:sp>
      <p:sp>
        <p:nvSpPr>
          <p:cNvPr id="154" name="Oval 153"/>
          <p:cNvSpPr/>
          <p:nvPr/>
        </p:nvSpPr>
        <p:spPr>
          <a:xfrm>
            <a:off x="5276088" y="6144768"/>
            <a:ext cx="146304" cy="146304"/>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5577840" y="603504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Tune on a real floor</a:t>
            </a:r>
          </a:p>
        </p:txBody>
      </p:sp>
      <p:sp>
        <p:nvSpPr>
          <p:cNvPr id="156" name="Oval 155"/>
          <p:cNvSpPr/>
          <p:nvPr/>
        </p:nvSpPr>
        <p:spPr>
          <a:xfrm>
            <a:off x="5276088" y="7196328"/>
            <a:ext cx="146304" cy="146304"/>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5577840" y="708660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Record the real demo</a:t>
            </a:r>
          </a:p>
        </p:txBody>
      </p:sp>
      <p:sp>
        <p:nvSpPr>
          <p:cNvPr id="158" name="Oval 157"/>
          <p:cNvSpPr/>
          <p:nvPr/>
        </p:nvSpPr>
        <p:spPr>
          <a:xfrm>
            <a:off x="10881360" y="2788920"/>
            <a:ext cx="914400" cy="91440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Picture 158" descr="FaBrain.png"/>
          <p:cNvPicPr>
            <a:picLocks noChangeAspect="1"/>
          </p:cNvPicPr>
          <p:nvPr/>
        </p:nvPicPr>
        <p:blipFill>
          <a:blip r:embed="rId6"/>
          <a:stretch>
            <a:fillRect/>
          </a:stretch>
        </p:blipFill>
        <p:spPr>
          <a:xfrm>
            <a:off x="11100816" y="3008376"/>
            <a:ext cx="475488" cy="475488"/>
          </a:xfrm>
          <a:prstGeom prst="rect">
            <a:avLst/>
          </a:prstGeom>
        </p:spPr>
      </p:pic>
      <p:sp>
        <p:nvSpPr>
          <p:cNvPr id="160" name="Rounded Rectangle 159"/>
          <p:cNvSpPr/>
          <p:nvPr/>
        </p:nvSpPr>
        <p:spPr>
          <a:xfrm>
            <a:off x="9281160" y="4069080"/>
            <a:ext cx="3977639" cy="42062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555480" y="4297680"/>
            <a:ext cx="3474720" cy="457200"/>
          </a:xfrm>
          <a:prstGeom prst="rect">
            <a:avLst/>
          </a:prstGeom>
          <a:noFill/>
        </p:spPr>
        <p:txBody>
          <a:bodyPr wrap="square" lIns="0" rIns="0" tIns="0" bIns="0" anchor="t">
            <a:spAutoFit/>
          </a:bodyPr>
          <a:lstStyle/>
          <a:p>
            <a:pPr algn="l">
              <a:lnSpc>
                <a:spcPct val="105000"/>
              </a:lnSpc>
              <a:spcAft>
                <a:spcPts val="400"/>
              </a:spcAft>
            </a:pPr>
            <a:r>
              <a:rPr sz="2000" b="1" i="0">
                <a:solidFill>
                  <a:srgbClr val="D9622B"/>
                </a:solidFill>
                <a:latin typeface="Arial"/>
              </a:rPr>
              <a:t>THEN</a:t>
            </a:r>
            <a:r>
              <a:rPr sz="2000" b="0" i="0">
                <a:solidFill>
                  <a:srgbClr val="5B616E"/>
                </a:solidFill>
                <a:latin typeface="Arial"/>
              </a:rPr>
              <a:t>  ·  Smarter</a:t>
            </a:r>
          </a:p>
        </p:txBody>
      </p:sp>
      <p:sp>
        <p:nvSpPr>
          <p:cNvPr id="162" name="Oval 161"/>
          <p:cNvSpPr/>
          <p:nvPr/>
        </p:nvSpPr>
        <p:spPr>
          <a:xfrm>
            <a:off x="9573768" y="5093208"/>
            <a:ext cx="146304" cy="146304"/>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9875520" y="498348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Any object by name (YOLOE, prototyped)</a:t>
            </a:r>
          </a:p>
        </p:txBody>
      </p:sp>
      <p:sp>
        <p:nvSpPr>
          <p:cNvPr id="164" name="Oval 163"/>
          <p:cNvSpPr/>
          <p:nvPr/>
        </p:nvSpPr>
        <p:spPr>
          <a:xfrm>
            <a:off x="9573768" y="6144768"/>
            <a:ext cx="146304" cy="146304"/>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9875520" y="603504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Phone app for goals</a:t>
            </a:r>
          </a:p>
        </p:txBody>
      </p:sp>
      <p:sp>
        <p:nvSpPr>
          <p:cNvPr id="166" name="Oval 165"/>
          <p:cNvSpPr/>
          <p:nvPr/>
        </p:nvSpPr>
        <p:spPr>
          <a:xfrm>
            <a:off x="9573768" y="7196328"/>
            <a:ext cx="146304" cy="146304"/>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9875520" y="708660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Custom-trained objects</a:t>
            </a:r>
          </a:p>
        </p:txBody>
      </p:sp>
      <p:sp>
        <p:nvSpPr>
          <p:cNvPr id="168" name="Oval 167"/>
          <p:cNvSpPr/>
          <p:nvPr/>
        </p:nvSpPr>
        <p:spPr>
          <a:xfrm>
            <a:off x="15179040" y="2788920"/>
            <a:ext cx="914400" cy="914400"/>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9" name="Picture 168" descr="FaNetworkWired.png"/>
          <p:cNvPicPr>
            <a:picLocks noChangeAspect="1"/>
          </p:cNvPicPr>
          <p:nvPr/>
        </p:nvPicPr>
        <p:blipFill>
          <a:blip r:embed="rId7"/>
          <a:stretch>
            <a:fillRect/>
          </a:stretch>
        </p:blipFill>
        <p:spPr>
          <a:xfrm>
            <a:off x="15398496" y="3008376"/>
            <a:ext cx="475488" cy="475488"/>
          </a:xfrm>
          <a:prstGeom prst="rect">
            <a:avLst/>
          </a:prstGeom>
        </p:spPr>
      </p:pic>
      <p:sp>
        <p:nvSpPr>
          <p:cNvPr id="170" name="Rounded Rectangle 169"/>
          <p:cNvSpPr/>
          <p:nvPr/>
        </p:nvSpPr>
        <p:spPr>
          <a:xfrm>
            <a:off x="13578840" y="4069080"/>
            <a:ext cx="3977639" cy="42062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3853160" y="4297680"/>
            <a:ext cx="3474720" cy="457200"/>
          </a:xfrm>
          <a:prstGeom prst="rect">
            <a:avLst/>
          </a:prstGeom>
          <a:noFill/>
        </p:spPr>
        <p:txBody>
          <a:bodyPr wrap="square" lIns="0" rIns="0" tIns="0" bIns="0" anchor="t">
            <a:spAutoFit/>
          </a:bodyPr>
          <a:lstStyle/>
          <a:p>
            <a:pPr algn="l">
              <a:lnSpc>
                <a:spcPct val="105000"/>
              </a:lnSpc>
              <a:spcAft>
                <a:spcPts val="400"/>
              </a:spcAft>
            </a:pPr>
            <a:r>
              <a:rPr sz="2000" b="1" i="0">
                <a:solidFill>
                  <a:srgbClr val="D9622B"/>
                </a:solidFill>
                <a:latin typeface="Arial"/>
              </a:rPr>
              <a:t>LATER</a:t>
            </a:r>
            <a:r>
              <a:rPr sz="2000" b="0" i="0">
                <a:solidFill>
                  <a:srgbClr val="5B616E"/>
                </a:solidFill>
                <a:latin typeface="Arial"/>
              </a:rPr>
              <a:t>  ·  Scale</a:t>
            </a:r>
          </a:p>
        </p:txBody>
      </p:sp>
      <p:sp>
        <p:nvSpPr>
          <p:cNvPr id="172" name="Oval 171"/>
          <p:cNvSpPr/>
          <p:nvPr/>
        </p:nvSpPr>
        <p:spPr>
          <a:xfrm>
            <a:off x="13871448" y="5093208"/>
            <a:ext cx="146304" cy="146304"/>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4173200" y="498348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On-board Jetson / Raspberry Pi</a:t>
            </a:r>
          </a:p>
        </p:txBody>
      </p:sp>
      <p:sp>
        <p:nvSpPr>
          <p:cNvPr id="174" name="Oval 173"/>
          <p:cNvSpPr/>
          <p:nvPr/>
        </p:nvSpPr>
        <p:spPr>
          <a:xfrm>
            <a:off x="13871448" y="6144768"/>
            <a:ext cx="146304" cy="146304"/>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4173200" y="603504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ROS 2 and warehouse systems</a:t>
            </a:r>
          </a:p>
        </p:txBody>
      </p:sp>
      <p:sp>
        <p:nvSpPr>
          <p:cNvPr id="176" name="Oval 175"/>
          <p:cNvSpPr/>
          <p:nvPr/>
        </p:nvSpPr>
        <p:spPr>
          <a:xfrm>
            <a:off x="13871448" y="7196328"/>
            <a:ext cx="146304" cy="146304"/>
          </a:xfrm>
          <a:prstGeom prst="ellipse">
            <a:avLst/>
          </a:prstGeom>
          <a:solidFill>
            <a:srgbClr val="D9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14173200" y="7086600"/>
            <a:ext cx="3200400" cy="1097280"/>
          </a:xfrm>
          <a:prstGeom prst="rect">
            <a:avLst/>
          </a:prstGeom>
          <a:noFill/>
        </p:spPr>
        <p:txBody>
          <a:bodyPr wrap="square" lIns="0" rIns="0" tIns="0" bIns="0" anchor="t">
            <a:spAutoFit/>
          </a:bodyPr>
          <a:lstStyle/>
          <a:p>
            <a:pPr algn="l">
              <a:lnSpc>
                <a:spcPct val="105000"/>
              </a:lnSpc>
              <a:spcAft>
                <a:spcPts val="400"/>
              </a:spcAft>
            </a:pPr>
            <a:r>
              <a:rPr sz="1600" b="0" i="0">
                <a:solidFill>
                  <a:srgbClr val="1D1D1F"/>
                </a:solidFill>
                <a:latin typeface="Arial"/>
              </a:rPr>
              <a:t>Fleets sharing one map</a:t>
            </a:r>
          </a:p>
        </p:txBody>
      </p:sp>
      <p:sp>
        <p:nvSpPr>
          <p:cNvPr id="178" name="TextBox 177"/>
          <p:cNvSpPr txBox="1"/>
          <p:nvPr/>
        </p:nvSpPr>
        <p:spPr>
          <a:xfrm>
            <a:off x="685800" y="8641080"/>
            <a:ext cx="16916400" cy="457200"/>
          </a:xfrm>
          <a:prstGeom prst="rect">
            <a:avLst/>
          </a:prstGeom>
          <a:noFill/>
        </p:spPr>
        <p:txBody>
          <a:bodyPr wrap="square" lIns="0" rIns="0" tIns="0" bIns="0" anchor="t">
            <a:spAutoFit/>
          </a:bodyPr>
          <a:lstStyle/>
          <a:p>
            <a:pPr algn="l">
              <a:lnSpc>
                <a:spcPct val="105000"/>
              </a:lnSpc>
              <a:spcAft>
                <a:spcPts val="400"/>
              </a:spcAft>
            </a:pPr>
            <a:r>
              <a:rPr sz="1400" b="1" i="0">
                <a:solidFill>
                  <a:srgbClr val="1D1D1F"/>
                </a:solidFill>
                <a:latin typeface="Arial"/>
              </a:rPr>
              <a:t>The roadmap covers: </a:t>
            </a:r>
            <a:r>
              <a:rPr sz="1400" b="0" i="0">
                <a:solidFill>
                  <a:srgbClr val="2E4057"/>
                </a:solidFill>
                <a:latin typeface="Arial"/>
              </a:rPr>
              <a:t>mobile app · AI model improvement · enterprise integrations · scaling to many users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grpSp>
        <p:nvGrpSpPr>
          <p:cNvPr id="148" name="Google Shape;148;p20"/>
          <p:cNvGrpSpPr/>
          <p:nvPr/>
        </p:nvGrpSpPr>
        <p:grpSpPr>
          <a:xfrm>
            <a:off x="4239144" y="5736501"/>
            <a:ext cx="8898075" cy="2077107"/>
            <a:chOff x="0" y="180975"/>
            <a:chExt cx="11864100" cy="2769476"/>
          </a:xfrm>
        </p:grpSpPr>
        <p:sp>
          <p:nvSpPr>
            <p:cNvPr id="149" name="Google Shape;149;p20"/>
            <p:cNvSpPr txBox="1"/>
            <p:nvPr/>
          </p:nvSpPr>
          <p:spPr>
            <a:xfrm>
              <a:off x="0" y="180975"/>
              <a:ext cx="11864100" cy="369300"/>
            </a:xfrm>
            <a:prstGeom prst="rect">
              <a:avLst/>
            </a:prstGeom>
            <a:noFill/>
            <a:ln>
              <a:noFill/>
            </a:ln>
          </p:spPr>
          <p:txBody>
            <a:bodyPr anchorCtr="0" anchor="t" bIns="0" lIns="0" spcFirstLastPara="1" rIns="0" wrap="square" tIns="0">
              <a:spAutoFit/>
            </a:bodyPr>
            <a:lstStyle/>
            <a:p>
              <a:pPr indent="0" lvl="0" marL="0" marR="0" rtl="0" algn="ctr">
                <a:lnSpc>
                  <a:spcPct val="7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20"/>
            <p:cNvSpPr txBox="1"/>
            <p:nvPr/>
          </p:nvSpPr>
          <p:spPr>
            <a:xfrm>
              <a:off x="0" y="2581151"/>
              <a:ext cx="11864100" cy="369300"/>
            </a:xfrm>
            <a:prstGeom prst="rect">
              <a:avLst/>
            </a:prstGeom>
            <a:noFill/>
            <a:ln>
              <a:noFill/>
            </a:ln>
          </p:spPr>
          <p:txBody>
            <a:bodyPr anchorCtr="0" anchor="t" bIns="0" lIns="0" spcFirstLastPara="1" rIns="0" wrap="square" tIns="0">
              <a:spAutoFit/>
            </a:bodyPr>
            <a:lstStyle/>
            <a:p>
              <a:pPr indent="0" lvl="0" marL="0" marR="0" rtl="0" algn="ctr">
                <a:lnSpc>
                  <a:spcPct val="7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1" name="Google Shape;151;p20"/>
          <p:cNvGrpSpPr/>
          <p:nvPr/>
        </p:nvGrpSpPr>
        <p:grpSpPr>
          <a:xfrm>
            <a:off x="2554002" y="5409216"/>
            <a:ext cx="12268350" cy="1305429"/>
            <a:chOff x="0" y="19050"/>
            <a:chExt cx="16357800" cy="1740572"/>
          </a:xfrm>
        </p:grpSpPr>
        <p:sp>
          <p:nvSpPr>
            <p:cNvPr id="152" name="Google Shape;152;p20"/>
            <p:cNvSpPr txBox="1"/>
            <p:nvPr/>
          </p:nvSpPr>
          <p:spPr>
            <a:xfrm>
              <a:off x="0" y="19050"/>
              <a:ext cx="16357800" cy="369300"/>
            </a:xfrm>
            <a:prstGeom prst="rect">
              <a:avLst/>
            </a:prstGeom>
            <a:noFill/>
            <a:ln>
              <a:noFill/>
            </a:ln>
          </p:spPr>
          <p:txBody>
            <a:bodyPr anchorCtr="0" anchor="t" bIns="0" lIns="0" spcFirstLastPara="1" rIns="0" wrap="square" tIns="0">
              <a:spAutoFit/>
            </a:bodyPr>
            <a:lstStyle/>
            <a:p>
              <a:pPr indent="0" lvl="0" marL="0" marR="0" rtl="0" algn="ctr">
                <a:lnSpc>
                  <a:spcPct val="409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20"/>
            <p:cNvSpPr txBox="1"/>
            <p:nvPr/>
          </p:nvSpPr>
          <p:spPr>
            <a:xfrm>
              <a:off x="0" y="1390322"/>
              <a:ext cx="16357800" cy="369300"/>
            </a:xfrm>
            <a:prstGeom prst="rect">
              <a:avLst/>
            </a:prstGeom>
            <a:noFill/>
            <a:ln>
              <a:noFill/>
            </a:ln>
          </p:spPr>
          <p:txBody>
            <a:bodyPr anchorCtr="0" anchor="t" bIns="0" lIns="0" spcFirstLastPara="1" rIns="0" wrap="square" tIns="0">
              <a:spAutoFit/>
            </a:bodyPr>
            <a:lstStyle/>
            <a:p>
              <a:pPr indent="0" lvl="0" marL="0" marR="0" rtl="0" algn="ctr">
                <a:lnSpc>
                  <a:spcPct val="701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4" name="Google Shape;154;p20"/>
          <p:cNvGrpSpPr/>
          <p:nvPr/>
        </p:nvGrpSpPr>
        <p:grpSpPr>
          <a:xfrm>
            <a:off x="1873714" y="4696929"/>
            <a:ext cx="13628822" cy="4488047"/>
            <a:chOff x="2753902" y="4797891"/>
            <a:chExt cx="13628822" cy="4488047"/>
          </a:xfrm>
        </p:grpSpPr>
        <p:sp>
          <p:nvSpPr>
            <p:cNvPr id="155" name="Google Shape;155;p20"/>
            <p:cNvSpPr txBox="1"/>
            <p:nvPr/>
          </p:nvSpPr>
          <p:spPr>
            <a:xfrm rot="-348051">
              <a:off x="2847493" y="5401630"/>
              <a:ext cx="12071717" cy="2462422"/>
            </a:xfrm>
            <a:prstGeom prst="rect">
              <a:avLst/>
            </a:prstGeom>
            <a:noFill/>
            <a:ln>
              <a:noFill/>
            </a:ln>
          </p:spPr>
          <p:txBody>
            <a:bodyPr anchorCtr="0" anchor="t" bIns="0" lIns="0" spcFirstLastPara="1" rIns="0" wrap="square" tIns="0">
              <a:spAutoFit/>
            </a:bodyPr>
            <a:lstStyle/>
            <a:p>
              <a:pPr indent="0" lvl="0" marL="0" marR="0" rtl="0" algn="ctr">
                <a:lnSpc>
                  <a:spcPct val="54998"/>
                </a:lnSpc>
                <a:spcBef>
                  <a:spcPts val="0"/>
                </a:spcBef>
                <a:spcAft>
                  <a:spcPts val="0"/>
                </a:spcAft>
                <a:buNone/>
              </a:pPr>
              <a:r>
                <a:rPr i="0" lang="en-US" sz="29088" u="none" cap="none" strike="noStrike">
                  <a:solidFill>
                    <a:srgbClr val="1D1D1F"/>
                  </a:solidFill>
                  <a:latin typeface="Caveat"/>
                  <a:ea typeface="Caveat"/>
                  <a:cs typeface="Caveat"/>
                  <a:sym typeface="Caveat"/>
                </a:rPr>
                <a:t>Thank</a:t>
              </a:r>
              <a:endParaRPr>
                <a:latin typeface="Caveat"/>
                <a:ea typeface="Caveat"/>
                <a:cs typeface="Caveat"/>
                <a:sym typeface="Caveat"/>
              </a:endParaRPr>
            </a:p>
          </p:txBody>
        </p:sp>
        <p:sp>
          <p:nvSpPr>
            <p:cNvPr id="156" name="Google Shape;156;p20"/>
            <p:cNvSpPr txBox="1"/>
            <p:nvPr/>
          </p:nvSpPr>
          <p:spPr>
            <a:xfrm>
              <a:off x="4695023" y="6732039"/>
              <a:ext cx="11687700" cy="2553900"/>
            </a:xfrm>
            <a:prstGeom prst="rect">
              <a:avLst/>
            </a:prstGeom>
            <a:noFill/>
            <a:ln>
              <a:noFill/>
            </a:ln>
          </p:spPr>
          <p:txBody>
            <a:bodyPr anchorCtr="0" anchor="t" bIns="0" lIns="0" spcFirstLastPara="1" rIns="0" wrap="square" tIns="0">
              <a:spAutoFit/>
            </a:bodyPr>
            <a:lstStyle/>
            <a:p>
              <a:pPr indent="0" lvl="0" marL="0" marR="0" rtl="0" algn="ctr">
                <a:lnSpc>
                  <a:spcPct val="55000"/>
                </a:lnSpc>
                <a:spcBef>
                  <a:spcPts val="0"/>
                </a:spcBef>
                <a:spcAft>
                  <a:spcPts val="0"/>
                </a:spcAft>
                <a:buNone/>
              </a:pPr>
              <a:r>
                <a:rPr i="0" lang="en-US" sz="30167" u="none" cap="none" strike="noStrike">
                  <a:solidFill>
                    <a:srgbClr val="1D1D1F"/>
                  </a:solidFill>
                  <a:latin typeface="Caveat"/>
                  <a:ea typeface="Caveat"/>
                  <a:cs typeface="Caveat"/>
                  <a:sym typeface="Caveat"/>
                </a:rPr>
                <a:t>you!</a:t>
              </a:r>
              <a:endParaRPr>
                <a:latin typeface="Caveat"/>
                <a:ea typeface="Caveat"/>
                <a:cs typeface="Caveat"/>
                <a:sym typeface="Caveat"/>
              </a:endParaRPr>
            </a:p>
          </p:txBody>
        </p:sp>
      </p:grpSp>
      <p:pic>
        <p:nvPicPr>
          <p:cNvPr id="157" name="Google Shape;157;p20" title="download (2).jpg"/>
          <p:cNvPicPr preferRelativeResize="0"/>
          <p:nvPr/>
        </p:nvPicPr>
        <p:blipFill rotWithShape="1">
          <a:blip r:embed="rId3">
            <a:alphaModFix/>
          </a:blip>
          <a:srcRect b="0" l="38928" r="16455" t="0"/>
          <a:stretch/>
        </p:blipFill>
        <p:spPr>
          <a:xfrm rot="-5400000">
            <a:off x="7123100" y="-7111200"/>
            <a:ext cx="4088375" cy="18326624"/>
          </a:xfrm>
          <a:prstGeom prst="rect">
            <a:avLst/>
          </a:prstGeom>
          <a:noFill/>
          <a:ln>
            <a:noFill/>
          </a:ln>
        </p:spPr>
      </p:pic>
      <p:pic>
        <p:nvPicPr>
          <p:cNvPr id="158" name="Google Shape;158;p20"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159" name="Google Shape;159;p20"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
        <p:nvSpPr>
          <p:cNvPr id="160" name="TextBox 159"/>
          <p:cNvSpPr txBox="1"/>
          <p:nvPr/>
        </p:nvSpPr>
        <p:spPr>
          <a:xfrm>
            <a:off x="13350240" y="7863840"/>
            <a:ext cx="4480560" cy="2011680"/>
          </a:xfrm>
          <a:prstGeom prst="rect">
            <a:avLst/>
          </a:prstGeom>
          <a:noFill/>
        </p:spPr>
        <p:txBody>
          <a:bodyPr wrap="square" lIns="0" rIns="0" tIns="0" bIns="0" anchor="t">
            <a:spAutoFit/>
          </a:bodyPr>
          <a:lstStyle/>
          <a:p>
            <a:pPr algn="r">
              <a:lnSpc>
                <a:spcPct val="105000"/>
              </a:lnSpc>
              <a:spcAft>
                <a:spcPts val="300"/>
              </a:spcAft>
            </a:pPr>
            <a:r>
              <a:rPr sz="1400" b="1" i="0">
                <a:solidFill>
                  <a:srgbClr val="D9622B"/>
                </a:solidFill>
                <a:latin typeface="Arial"/>
              </a:rPr>
              <a:t>Code + docs</a:t>
            </a:r>
          </a:p>
          <a:p>
            <a:pPr algn="r">
              <a:lnSpc>
                <a:spcPct val="105000"/>
              </a:lnSpc>
              <a:spcAft>
                <a:spcPts val="300"/>
              </a:spcAft>
            </a:pPr>
            <a:r>
              <a:rPr sz="1400" b="0" i="0">
                <a:solidFill>
                  <a:srgbClr val="2E4057"/>
                </a:solidFill>
                <a:latin typeface="Arial"/>
              </a:rPr>
              <a:t>github.com/harshittalreja/SightSeeker</a:t>
            </a:r>
          </a:p>
          <a:p>
            <a:pPr algn="r">
              <a:lnSpc>
                <a:spcPct val="105000"/>
              </a:lnSpc>
              <a:spcAft>
                <a:spcPts val="300"/>
              </a:spcAft>
            </a:pPr>
            <a:r>
              <a:rPr sz="1400" b="1" i="0">
                <a:solidFill>
                  <a:srgbClr val="D9622B"/>
                </a:solidFill>
                <a:latin typeface="Arial"/>
              </a:rPr>
              <a:t>Live Wokwi simulation</a:t>
            </a:r>
          </a:p>
          <a:p>
            <a:pPr algn="r">
              <a:lnSpc>
                <a:spcPct val="105000"/>
              </a:lnSpc>
              <a:spcAft>
                <a:spcPts val="300"/>
              </a:spcAft>
            </a:pPr>
            <a:r>
              <a:rPr sz="1400" b="0" i="0">
                <a:solidFill>
                  <a:srgbClr val="2E4057"/>
                </a:solidFill>
                <a:latin typeface="Arial"/>
              </a:rPr>
              <a:t>wokwi.com/projects/479147376881059841</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